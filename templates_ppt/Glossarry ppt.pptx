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3"/>
    <p:sldId id="273" r:id="rId4"/>
    <p:sldId id="283" r:id="rId5"/>
    <p:sldId id="278" r:id="rId6"/>
    <p:sldId id="280" r:id="rId8"/>
    <p:sldId id="279" r:id="rId9"/>
    <p:sldId id="282" r:id="rId10"/>
    <p:sldId id="285" r:id="rId11"/>
    <p:sldId id="271" r:id="rId12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771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771"/>
        <p:guide pos="220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list" loCatId="list" qsTypeId="urn:microsoft.com/office/officeart/2005/8/quickstyle/simple1" qsCatId="simple" csTypeId="urn:microsoft.com/office/officeart/2005/8/colors/colorful3" csCatId="accent1" phldr="1"/>
      <dgm:spPr/>
      <dgm:t>
        <a:bodyPr/>
        <a:p>
          <a:endParaRPr lang="en-US"/>
        </a:p>
      </dgm:t>
    </dgm:pt>
    <dgm:pt modelId="{BD5427FF-4EB1-4006-BF7F-42158E0C512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 b="1" spc="-10" dirty="0">
              <a:latin typeface="Calibri" panose="020F0502020204030204" charset="0"/>
              <a:cs typeface="Calibri" panose="020F0502020204030204" charset="0"/>
              <a:sym typeface="+mn-ea"/>
            </a:rPr>
            <a:t>Knockout</a:t>
          </a:r>
          <a:r>
            <a:rPr lang="en-US" sz="2800">
              <a:latin typeface="Calibri" panose="020F0502020204030204" charset="0"/>
              <a:cs typeface="Calibri" panose="020F0502020204030204" charset="0"/>
            </a:rPr>
            <a:t/>
          </a:r>
          <a:endParaRPr lang="en-US" sz="2800">
            <a:latin typeface="Calibri" panose="020F0502020204030204" charset="0"/>
            <a:cs typeface="Calibri" panose="020F0502020204030204" charset="0"/>
          </a:endParaRPr>
        </a:p>
      </dgm:t>
    </dgm:pt>
    <dgm:pt modelId="{A2F6D805-3B53-408A-A2A3-20BC3BF0D242}" cxnId="{48A83B1D-3E2C-4EFE-8E06-09C0F3976161}" type="parTrans">
      <dgm:prSet/>
      <dgm:spPr/>
      <dgm:t>
        <a:bodyPr/>
        <a:p>
          <a:endParaRPr lang="en-US"/>
        </a:p>
      </dgm:t>
    </dgm:pt>
    <dgm:pt modelId="{D47F9812-1256-4E44-A6BE-BEC559BE8FF3}" cxnId="{48A83B1D-3E2C-4EFE-8E06-09C0F3976161}" type="sibTrans">
      <dgm:prSet/>
      <dgm:spPr/>
      <dgm:t>
        <a:bodyPr/>
        <a:p>
          <a:endParaRPr lang="en-US"/>
        </a:p>
      </dgm:t>
    </dgm:pt>
    <dgm:pt modelId="{3A7B819B-DBE9-4610-B22A-5573EA6D532D}">
      <dgm:prSet phldrT="[Text]"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sz="2400" spc="-20" dirty="0">
              <a:latin typeface="Calibri" panose="020F0502020204030204" charset="0"/>
              <a:cs typeface="Calibri" panose="020F0502020204030204" charset="0"/>
              <a:sym typeface="+mn-ea"/>
            </a:rPr>
            <a:t>100%</a:t>
          </a:r>
          <a:r>
            <a:rPr sz="2400" spc="-135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75" dirty="0">
              <a:latin typeface="Calibri" panose="020F0502020204030204" charset="0"/>
              <a:cs typeface="Calibri" panose="020F0502020204030204" charset="0"/>
              <a:sym typeface="+mn-ea"/>
            </a:rPr>
            <a:t>OD</a:t>
          </a:r>
          <a:r>
            <a:rPr sz="2400" spc="-125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-10" dirty="0">
              <a:latin typeface="Calibri" panose="020F0502020204030204" charset="0"/>
              <a:cs typeface="Calibri" panose="020F0502020204030204" charset="0"/>
              <a:sym typeface="+mn-ea"/>
            </a:rPr>
            <a:t>Collection</a:t>
          </a:r>
          <a:r>
            <a:rPr sz="2400" spc="-120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-40" dirty="0">
              <a:latin typeface="Calibri" panose="020F0502020204030204" charset="0"/>
              <a:cs typeface="Calibri" panose="020F0502020204030204" charset="0"/>
              <a:sym typeface="+mn-ea"/>
            </a:rPr>
            <a:t>from</a:t>
          </a:r>
          <a:r>
            <a:rPr sz="2400" spc="-140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-60" dirty="0">
              <a:latin typeface="Calibri" panose="020F0502020204030204" charset="0"/>
              <a:cs typeface="Calibri" panose="020F0502020204030204" charset="0"/>
              <a:sym typeface="+mn-ea"/>
            </a:rPr>
            <a:t>the</a:t>
          </a:r>
          <a:r>
            <a:rPr sz="2400" spc="-130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-10" dirty="0">
              <a:latin typeface="Calibri" panose="020F0502020204030204" charset="0"/>
              <a:cs typeface="Calibri" panose="020F0502020204030204" charset="0"/>
              <a:sym typeface="+mn-ea"/>
            </a:rPr>
            <a:t>borrower</a:t>
          </a:r>
          <a:r>
            <a:rPr lang="en-US" sz="2400">
              <a:latin typeface="Calibri" panose="020F0502020204030204" charset="0"/>
              <a:cs typeface="Calibri" panose="020F0502020204030204" charset="0"/>
            </a:rPr>
            <a:t/>
          </a:r>
          <a:endParaRPr lang="en-US" sz="2400">
            <a:latin typeface="Calibri" panose="020F0502020204030204" charset="0"/>
            <a:cs typeface="Calibri" panose="020F0502020204030204" charset="0"/>
          </a:endParaRPr>
        </a:p>
      </dgm:t>
    </dgm:pt>
    <dgm:pt modelId="{DC4BEA23-BF6E-42AD-9BF0-CFBDE86A80F1}" cxnId="{D0DA5B49-923D-4F6C-A2E4-58EA0F3E1149}" type="parTrans">
      <dgm:prSet/>
      <dgm:spPr/>
      <dgm:t>
        <a:bodyPr/>
        <a:p>
          <a:endParaRPr lang="en-US"/>
        </a:p>
      </dgm:t>
    </dgm:pt>
    <dgm:pt modelId="{0BF6ACD3-AE1A-4691-8CBE-DBE77AB8A685}" cxnId="{D0DA5B49-923D-4F6C-A2E4-58EA0F3E1149}" type="sibTrans">
      <dgm:prSet/>
      <dgm:spPr/>
      <dgm:t>
        <a:bodyPr/>
        <a:p>
          <a:endParaRPr lang="en-US"/>
        </a:p>
      </dgm:t>
    </dgm:pt>
    <dgm:pt modelId="{2687D639-C0DA-487E-96F1-F129BA868166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 b="1">
              <a:cs typeface="+mn-lt"/>
              <a:sym typeface="+mn-ea"/>
            </a:rPr>
            <a:t>C</a:t>
          </a:r>
          <a:r>
            <a:rPr sz="2800" b="1" spc="-20" dirty="0">
              <a:cs typeface="+mn-lt"/>
              <a:sym typeface="+mn-ea"/>
            </a:rPr>
            <a:t>lien</a:t>
          </a:r>
          <a:r>
            <a:rPr sz="2800" b="1" spc="-20" dirty="0">
              <a:cs typeface="+mn-lt"/>
              <a:sym typeface="+mn-ea"/>
            </a:rPr>
            <a:t>t</a:t>
          </a:r>
          <a:r>
            <a:rPr sz="2800">
              <a:cs typeface="+mn-lt"/>
              <a:sym typeface="+mn-ea"/>
            </a:rPr>
            <a:t> </a:t>
          </a:r>
          <a:r>
            <a:rPr sz="2800" b="1">
              <a:cs typeface="+mn-lt"/>
              <a:sym typeface="+mn-ea"/>
            </a:rPr>
            <a:t>A</a:t>
          </a:r>
          <a:r>
            <a:rPr sz="2800" b="1" spc="-10" dirty="0">
              <a:cs typeface="+mn-lt"/>
              <a:sym typeface="+mn-ea"/>
            </a:rPr>
            <a:t>ctivation</a:t>
          </a:r>
          <a:r>
            <a:rPr sz="2800" b="1" spc="-10" dirty="0">
              <a:cs typeface="+mn-lt"/>
              <a:sym typeface="+mn-ea"/>
            </a:rPr>
            <a:t/>
          </a:r>
          <a:endParaRPr sz="2800" b="1" spc="-10" dirty="0">
            <a:cs typeface="+mn-lt"/>
            <a:sym typeface="+mn-ea"/>
          </a:endParaRPr>
        </a:p>
      </dgm:t>
    </dgm:pt>
    <dgm:pt modelId="{D8CE1E62-D9A2-47AF-AECB-FB9E47A5E886}" cxnId="{D46799A5-E54B-481F-ADAE-BEA1E66A022C}" type="parTrans">
      <dgm:prSet/>
      <dgm:spPr/>
    </dgm:pt>
    <dgm:pt modelId="{E7E6C078-0337-43C6-AF66-88F4A0909339}" cxnId="{D46799A5-E54B-481F-ADAE-BEA1E66A022C}" type="sibTrans">
      <dgm:prSet/>
      <dgm:spPr/>
    </dgm:pt>
    <dgm:pt modelId="{7CA6C048-68EE-4CC3-8AE9-8DAC5AB78ED8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M</a:t>
          </a:r>
          <a:r>
            <a:rPr sz="2400" dirty="0">
              <a:latin typeface="Calibri" panose="020F0502020204030204" charset="0"/>
              <a:cs typeface="Calibri" panose="020F0502020204030204" charset="0"/>
              <a:sym typeface="+mn-ea"/>
            </a:rPr>
            <a:t>inimum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1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E</a:t>
          </a:r>
          <a:r>
            <a:rPr sz="2400" dirty="0">
              <a:latin typeface="Calibri" panose="020F0502020204030204" charset="0"/>
              <a:cs typeface="Calibri" panose="020F0502020204030204" charset="0"/>
              <a:sym typeface="+mn-ea"/>
            </a:rPr>
            <a:t>MI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C</a:t>
          </a:r>
          <a:r>
            <a:rPr sz="2400" spc="-10" dirty="0">
              <a:latin typeface="Calibri" panose="020F0502020204030204" charset="0"/>
              <a:cs typeface="Calibri" panose="020F0502020204030204" charset="0"/>
              <a:sym typeface="+mn-ea"/>
            </a:rPr>
            <a:t>ollection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f</a:t>
          </a:r>
          <a:r>
            <a:rPr sz="2400" spc="-40" dirty="0">
              <a:latin typeface="Calibri" panose="020F0502020204030204" charset="0"/>
              <a:cs typeface="Calibri" panose="020F0502020204030204" charset="0"/>
              <a:sym typeface="+mn-ea"/>
            </a:rPr>
            <a:t>rom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t</a:t>
          </a:r>
          <a:r>
            <a:rPr sz="2400" spc="-60" dirty="0">
              <a:latin typeface="Calibri" panose="020F0502020204030204" charset="0"/>
              <a:cs typeface="Calibri" panose="020F0502020204030204" charset="0"/>
              <a:sym typeface="+mn-ea"/>
            </a:rPr>
            <a:t>he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a</a:t>
          </a:r>
          <a:r>
            <a:rPr sz="2400" spc="-65" dirty="0">
              <a:latin typeface="Calibri" panose="020F0502020204030204" charset="0"/>
              <a:cs typeface="Calibri" panose="020F0502020204030204" charset="0"/>
              <a:sym typeface="+mn-ea"/>
            </a:rPr>
            <a:t>rrear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c</a:t>
          </a:r>
          <a:r>
            <a:rPr sz="2400" spc="-10" dirty="0">
              <a:latin typeface="Calibri" panose="020F0502020204030204" charset="0"/>
              <a:cs typeface="Calibri" panose="020F0502020204030204" charset="0"/>
              <a:sym typeface="+mn-ea"/>
            </a:rPr>
            <a:t>lient</a:t>
          </a:r>
          <a:r>
            <a:rPr sz="2400" spc="-10" dirty="0">
              <a:latin typeface="Calibri" panose="020F0502020204030204" charset="0"/>
              <a:cs typeface="Calibri" panose="020F0502020204030204" charset="0"/>
            </a:rPr>
            <a:t/>
          </a:r>
          <a:endParaRPr sz="2400" spc="-10" dirty="0">
            <a:latin typeface="Calibri" panose="020F0502020204030204" charset="0"/>
            <a:cs typeface="Calibri" panose="020F0502020204030204" charset="0"/>
          </a:endParaRPr>
        </a:p>
      </dgm:t>
    </dgm:pt>
    <dgm:pt modelId="{B6FB3855-B800-4158-9ED5-76440C1EADA0}" cxnId="{F6492AD7-53A9-4534-BAB2-C6D5DFB2F852}" type="parTrans">
      <dgm:prSet/>
      <dgm:spPr/>
    </dgm:pt>
    <dgm:pt modelId="{8A1FBE44-15DE-4084-886B-2F2FF95F43F7}" cxnId="{F6492AD7-53A9-4534-BAB2-C6D5DFB2F852}" type="sibTrans">
      <dgm:prSet/>
      <dgm:spPr/>
    </dgm:pt>
    <dgm:pt modelId="{FE969E54-0D5D-4815-BDC4-3309E2F7325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 b="1" spc="-40" dirty="0">
              <a:latin typeface="Calibri" panose="020F0502020204030204" charset="0"/>
              <a:cs typeface="Calibri" panose="020F0502020204030204" charset="0"/>
              <a:sym typeface="+mn-ea"/>
            </a:rPr>
            <a:t>Partial</a:t>
          </a:r>
          <a:r>
            <a:rPr sz="2800" b="1" spc="-75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800" b="1" spc="-20" dirty="0">
              <a:latin typeface="Calibri" panose="020F0502020204030204" charset="0"/>
              <a:cs typeface="Calibri" panose="020F0502020204030204" charset="0"/>
              <a:sym typeface="+mn-ea"/>
            </a:rPr>
            <a:t>Paid</a:t>
          </a:r>
          <a:r>
            <a:rPr lang="en-US" sz="2800" b="1" spc="-20" dirty="0">
              <a:latin typeface="Calibri" panose="020F0502020204030204" charset="0"/>
              <a:cs typeface="Calibri" panose="020F0502020204030204" charset="0"/>
              <a:sym typeface="+mn-ea"/>
            </a:rPr>
            <a:t/>
          </a:r>
          <a:endParaRPr lang="en-US" sz="2800" b="1" spc="-20" dirty="0">
            <a:latin typeface="Calibri" panose="020F0502020204030204" charset="0"/>
            <a:cs typeface="Calibri" panose="020F0502020204030204" charset="0"/>
            <a:sym typeface="+mn-ea"/>
          </a:endParaRPr>
        </a:p>
      </dgm:t>
    </dgm:pt>
    <dgm:pt modelId="{B5D9FB86-EEBE-488F-B7DE-B7CF5C9166C5}" cxnId="{332247ED-EFCE-4FCC-9962-E20491CAAFA1}" type="parTrans">
      <dgm:prSet/>
      <dgm:spPr/>
      <dgm:t>
        <a:bodyPr/>
        <a:p>
          <a:endParaRPr lang="en-US"/>
        </a:p>
      </dgm:t>
    </dgm:pt>
    <dgm:pt modelId="{D7D19B67-C01A-45D3-B5C7-B7E1B18A9F62}" cxnId="{332247ED-EFCE-4FCC-9962-E20491CAAFA1}" type="sibTrans">
      <dgm:prSet/>
      <dgm:spPr/>
      <dgm:t>
        <a:bodyPr/>
        <a:p>
          <a:endParaRPr lang="en-US"/>
        </a:p>
      </dgm:t>
    </dgm:pt>
    <dgm:pt modelId="{F4D1254B-684D-433A-A37B-10DF0AAD34A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O</a:t>
          </a:r>
          <a:r>
            <a:rPr sz="2400" spc="75" dirty="0">
              <a:latin typeface="Calibri" panose="020F0502020204030204" charset="0"/>
              <a:cs typeface="Calibri" panose="020F0502020204030204" charset="0"/>
              <a:sym typeface="+mn-ea"/>
            </a:rPr>
            <a:t>D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A</a:t>
          </a:r>
          <a:r>
            <a:rPr sz="2400" spc="-35" dirty="0">
              <a:latin typeface="Calibri" panose="020F0502020204030204" charset="0"/>
              <a:cs typeface="Calibri" panose="020F0502020204030204" charset="0"/>
              <a:sym typeface="+mn-ea"/>
            </a:rPr>
            <a:t>mount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c</a:t>
          </a:r>
          <a:r>
            <a:rPr sz="2400" spc="-25" dirty="0">
              <a:latin typeface="Calibri" panose="020F0502020204030204" charset="0"/>
              <a:cs typeface="Calibri" panose="020F0502020204030204" charset="0"/>
              <a:sym typeface="+mn-ea"/>
            </a:rPr>
            <a:t>ollection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l</a:t>
          </a:r>
          <a:r>
            <a:rPr sz="2400" spc="55" dirty="0">
              <a:latin typeface="Calibri" panose="020F0502020204030204" charset="0"/>
              <a:cs typeface="Calibri" panose="020F0502020204030204" charset="0"/>
              <a:sym typeface="+mn-ea"/>
            </a:rPr>
            <a:t>ess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t</a:t>
          </a:r>
          <a:r>
            <a:rPr sz="2400" spc="-35" dirty="0">
              <a:latin typeface="Calibri" panose="020F0502020204030204" charset="0"/>
              <a:cs typeface="Calibri" panose="020F0502020204030204" charset="0"/>
              <a:sym typeface="+mn-ea"/>
            </a:rPr>
            <a:t>han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1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E</a:t>
          </a:r>
          <a:r>
            <a:rPr sz="2400" spc="-25" dirty="0">
              <a:latin typeface="Calibri" panose="020F0502020204030204" charset="0"/>
              <a:cs typeface="Calibri" panose="020F0502020204030204" charset="0"/>
              <a:sym typeface="+mn-ea"/>
            </a:rPr>
            <a:t>MI</a:t>
          </a:r>
          <a:r>
            <a:rPr sz="2400" spc="-25" dirty="0">
              <a:latin typeface="Calibri" panose="020F0502020204030204" charset="0"/>
              <a:cs typeface="Calibri" panose="020F0502020204030204" charset="0"/>
            </a:rPr>
            <a:t/>
          </a:r>
          <a:endParaRPr sz="2400" spc="-25" dirty="0">
            <a:latin typeface="Calibri" panose="020F0502020204030204" charset="0"/>
            <a:cs typeface="Calibri" panose="020F0502020204030204" charset="0"/>
          </a:endParaRPr>
        </a:p>
      </dgm:t>
    </dgm:pt>
    <dgm:pt modelId="{972F71F3-2BFE-4AC9-96FD-143902F08745}" cxnId="{E6A91EF1-9A0C-4A2D-8321-315E68D3044B}" type="parTrans">
      <dgm:prSet/>
      <dgm:spPr/>
    </dgm:pt>
    <dgm:pt modelId="{4F62DD99-6041-4AAD-983C-03F350846A6F}" cxnId="{E6A91EF1-9A0C-4A2D-8321-315E68D3044B}" type="sibTrans">
      <dgm:prSet/>
      <dgm:spPr/>
    </dgm:pt>
    <dgm:pt modelId="{61F0DC84-7FFF-4FDD-9B5D-40960093AE83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 b="1" dirty="0">
              <a:latin typeface="Calibri" panose="020F0502020204030204" charset="0"/>
              <a:cs typeface="Calibri" panose="020F0502020204030204" charset="0"/>
              <a:sym typeface="+mn-ea"/>
            </a:rPr>
            <a:t>Not</a:t>
          </a:r>
          <a:r>
            <a:rPr sz="2800" b="1" spc="-140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800" b="1" spc="-10" dirty="0">
              <a:latin typeface="Calibri" panose="020F0502020204030204" charset="0"/>
              <a:cs typeface="Calibri" panose="020F0502020204030204" charset="0"/>
              <a:sym typeface="+mn-ea"/>
            </a:rPr>
            <a:t>Paid</a:t>
          </a:r>
          <a:r>
            <a:rPr sz="2800" b="1" spc="-135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800" b="1" spc="-10" dirty="0">
              <a:latin typeface="Calibri" panose="020F0502020204030204" charset="0"/>
              <a:cs typeface="Calibri" panose="020F0502020204030204" charset="0"/>
              <a:sym typeface="+mn-ea"/>
            </a:rPr>
            <a:t>Clients</a:t>
          </a:r>
          <a:r>
            <a:rPr lang="en-US" sz="2800" b="1" spc="-10" dirty="0">
              <a:latin typeface="Calibri" panose="020F0502020204030204" charset="0"/>
              <a:cs typeface="Calibri" panose="020F0502020204030204" charset="0"/>
              <a:sym typeface="+mn-ea"/>
            </a:rPr>
            <a:t/>
          </a:r>
          <a:endParaRPr lang="en-US" sz="2800" b="1" spc="-10" dirty="0">
            <a:latin typeface="Calibri" panose="020F0502020204030204" charset="0"/>
            <a:cs typeface="Calibri" panose="020F0502020204030204" charset="0"/>
            <a:sym typeface="+mn-ea"/>
          </a:endParaRPr>
        </a:p>
      </dgm:t>
    </dgm:pt>
    <dgm:pt modelId="{2CB3CEFC-83E6-4DB9-B636-5287ACC11553}" cxnId="{958273E7-B617-4DEC-BC20-FD4328234A98}" type="parTrans">
      <dgm:prSet/>
      <dgm:spPr/>
      <dgm:t>
        <a:bodyPr/>
        <a:p>
          <a:endParaRPr lang="en-US"/>
        </a:p>
      </dgm:t>
    </dgm:pt>
    <dgm:pt modelId="{1FAE29ED-22A2-40FA-904A-0706E8542FE7}" cxnId="{958273E7-B617-4DEC-BC20-FD4328234A98}" type="sibTrans">
      <dgm:prSet/>
      <dgm:spPr/>
      <dgm:t>
        <a:bodyPr/>
        <a:p>
          <a:endParaRPr lang="en-US"/>
        </a:p>
      </dgm:t>
    </dgm:pt>
    <dgm:pt modelId="{9007DFF7-BD0D-42B1-B193-288E9B228D72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P</a:t>
          </a:r>
          <a:r>
            <a:rPr sz="2400" spc="-10" dirty="0">
              <a:latin typeface="Calibri" panose="020F0502020204030204" charset="0"/>
              <a:cs typeface="Calibri" panose="020F0502020204030204" charset="0"/>
              <a:sym typeface="+mn-ea"/>
            </a:rPr>
            <a:t>aid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Z</a:t>
          </a:r>
          <a:r>
            <a:rPr sz="2400" spc="-50" dirty="0">
              <a:latin typeface="Calibri" panose="020F0502020204030204" charset="0"/>
              <a:cs typeface="Calibri" panose="020F0502020204030204" charset="0"/>
              <a:sym typeface="+mn-ea"/>
            </a:rPr>
            <a:t>ero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a</a:t>
          </a:r>
          <a:r>
            <a:rPr sz="2400" spc="-25" dirty="0">
              <a:latin typeface="Calibri" panose="020F0502020204030204" charset="0"/>
              <a:cs typeface="Calibri" panose="020F0502020204030204" charset="0"/>
              <a:sym typeface="+mn-ea"/>
            </a:rPr>
            <a:t>mount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o</a:t>
          </a:r>
          <a:r>
            <a:rPr sz="2400" spc="-20" dirty="0">
              <a:latin typeface="Calibri" panose="020F0502020204030204" charset="0"/>
              <a:cs typeface="Calibri" panose="020F0502020204030204" charset="0"/>
              <a:sym typeface="+mn-ea"/>
            </a:rPr>
            <a:t>n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d</a:t>
          </a:r>
          <a:r>
            <a:rPr sz="2400" spc="-30" dirty="0">
              <a:latin typeface="Calibri" panose="020F0502020204030204" charset="0"/>
              <a:cs typeface="Calibri" panose="020F0502020204030204" charset="0"/>
              <a:sym typeface="+mn-ea"/>
            </a:rPr>
            <a:t>ue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C</a:t>
          </a:r>
          <a:r>
            <a:rPr sz="2400" spc="-40" dirty="0">
              <a:latin typeface="Calibri" panose="020F0502020204030204" charset="0"/>
              <a:cs typeface="Calibri" panose="020F0502020204030204" charset="0"/>
              <a:sym typeface="+mn-ea"/>
            </a:rPr>
            <a:t>entre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m</a:t>
          </a:r>
          <a:r>
            <a:rPr sz="2400" spc="-40" dirty="0">
              <a:latin typeface="Calibri" panose="020F0502020204030204" charset="0"/>
              <a:cs typeface="Calibri" panose="020F0502020204030204" charset="0"/>
              <a:sym typeface="+mn-ea"/>
            </a:rPr>
            <a:t>eeting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latin typeface="Calibri" panose="020F0502020204030204" charset="0"/>
              <a:cs typeface="Calibri" panose="020F0502020204030204" charset="0"/>
              <a:sym typeface="+mn-ea"/>
            </a:rPr>
            <a:t>d</a:t>
          </a:r>
          <a:r>
            <a:rPr sz="2400" spc="-20" dirty="0">
              <a:latin typeface="Calibri" panose="020F0502020204030204" charset="0"/>
              <a:cs typeface="Calibri" panose="020F0502020204030204" charset="0"/>
              <a:sym typeface="+mn-ea"/>
            </a:rPr>
            <a:t>ay</a:t>
          </a:r>
          <a:r>
            <a:rPr sz="2200" spc="-20" dirty="0">
              <a:latin typeface="Calibri" panose="020F0502020204030204" charset="0"/>
              <a:cs typeface="Calibri" panose="020F0502020204030204" charset="0"/>
              <a:sym typeface="+mn-ea"/>
            </a:rPr>
            <a:t>.</a:t>
          </a:r>
          <a:r>
            <a:rPr sz="2200" spc="-20" dirty="0">
              <a:latin typeface="Calibri" panose="020F0502020204030204" charset="0"/>
              <a:cs typeface="Calibri" panose="020F0502020204030204" charset="0"/>
            </a:rPr>
            <a:t/>
          </a:r>
          <a:endParaRPr sz="2200" spc="-20" dirty="0">
            <a:latin typeface="Calibri" panose="020F0502020204030204" charset="0"/>
            <a:cs typeface="Calibri" panose="020F0502020204030204" charset="0"/>
          </a:endParaRPr>
        </a:p>
      </dgm:t>
    </dgm:pt>
    <dgm:pt modelId="{E239B93E-6E16-4C78-B28D-A99C31B7AF29}" cxnId="{A4C01845-8688-4A80-B00E-5B83A070D699}" type="parTrans">
      <dgm:prSet/>
      <dgm:spPr/>
    </dgm:pt>
    <dgm:pt modelId="{17459108-AC20-48EC-8E9C-B2F2513C36A3}" cxnId="{A4C01845-8688-4A80-B00E-5B83A070D699}" type="sibTrans">
      <dgm:prSet/>
      <dgm:spPr/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4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34BA2564-6FC0-43D0-AB91-A41C3DA9CCDB}" type="pres">
      <dgm:prSet presAssocID="{2687D639-C0DA-487E-96F1-F129BA868166}" presName="composite" presStyleCnt="0"/>
      <dgm:spPr/>
    </dgm:pt>
    <dgm:pt modelId="{BF7AE21A-53DC-425E-A637-107E5B798968}" type="pres">
      <dgm:prSet presAssocID="{2687D639-C0DA-487E-96F1-F129BA86816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A5D8E3D-DA80-4225-9A2A-013D22A5C3E3}" type="pres">
      <dgm:prSet presAssocID="{2687D639-C0DA-487E-96F1-F129BA868166}" presName="desTx" presStyleLbl="alignAccFollowNode1" presStyleIdx="1" presStyleCnt="4">
        <dgm:presLayoutVars>
          <dgm:bulletEnabled val="1"/>
        </dgm:presLayoutVars>
      </dgm:prSet>
      <dgm:spPr/>
    </dgm:pt>
    <dgm:pt modelId="{9CD92D6E-F366-4CD6-9CB3-0159CA4CAB55}" type="pres">
      <dgm:prSet presAssocID="{E7E6C078-0337-43C6-AF66-88F4A0909339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2" presStyleCnt="4">
        <dgm:presLayoutVars>
          <dgm:bulletEnabled val="1"/>
        </dgm:presLayoutVars>
      </dgm:prSet>
      <dgm:spPr/>
    </dgm:pt>
    <dgm:pt modelId="{F4639A07-76C8-4329-80D5-712628979A9A}" type="pres">
      <dgm:prSet presAssocID="{D7D19B67-C01A-45D3-B5C7-B7E1B18A9F62}" presName="space" presStyleCnt="0"/>
      <dgm:spPr/>
    </dgm:pt>
    <dgm:pt modelId="{7F710124-E259-48A5-9895-471DE20AF50E}" type="pres">
      <dgm:prSet presAssocID="{61F0DC84-7FFF-4FDD-9B5D-40960093AE83}" presName="composite" presStyleCnt="0"/>
      <dgm:spPr/>
    </dgm:pt>
    <dgm:pt modelId="{FC453BFD-315B-4968-86FA-B7D3125F3320}" type="pres">
      <dgm:prSet presAssocID="{61F0DC84-7FFF-4FDD-9B5D-40960093AE8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357C82A-FE93-416B-AFBF-A74F9E99C4E4}" type="pres">
      <dgm:prSet presAssocID="{61F0DC84-7FFF-4FDD-9B5D-40960093AE83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48A83B1D-3E2C-4EFE-8E06-09C0F3976161}" srcId="{468FBB7B-694A-47BF-865D-2F44C1051453}" destId="{BD5427FF-4EB1-4006-BF7F-42158E0C5129}" srcOrd="0" destOrd="0" parTransId="{A2F6D805-3B53-408A-A2A3-20BC3BF0D242}" sibTransId="{D47F9812-1256-4E44-A6BE-BEC559BE8FF3}"/>
    <dgm:cxn modelId="{D0DA5B49-923D-4F6C-A2E4-58EA0F3E1149}" srcId="{BD5427FF-4EB1-4006-BF7F-42158E0C5129}" destId="{3A7B819B-DBE9-4610-B22A-5573EA6D532D}" srcOrd="0" destOrd="0" parTransId="{DC4BEA23-BF6E-42AD-9BF0-CFBDE86A80F1}" sibTransId="{0BF6ACD3-AE1A-4691-8CBE-DBE77AB8A685}"/>
    <dgm:cxn modelId="{D46799A5-E54B-481F-ADAE-BEA1E66A022C}" srcId="{468FBB7B-694A-47BF-865D-2F44C1051453}" destId="{2687D639-C0DA-487E-96F1-F129BA868166}" srcOrd="1" destOrd="0" parTransId="{D8CE1E62-D9A2-47AF-AECB-FB9E47A5E886}" sibTransId="{E7E6C078-0337-43C6-AF66-88F4A0909339}"/>
    <dgm:cxn modelId="{F6492AD7-53A9-4534-BAB2-C6D5DFB2F852}" srcId="{2687D639-C0DA-487E-96F1-F129BA868166}" destId="{7CA6C048-68EE-4CC3-8AE9-8DAC5AB78ED8}" srcOrd="0" destOrd="1" parTransId="{B6FB3855-B800-4158-9ED5-76440C1EADA0}" sibTransId="{8A1FBE44-15DE-4084-886B-2F2FF95F43F7}"/>
    <dgm:cxn modelId="{332247ED-EFCE-4FCC-9962-E20491CAAFA1}" srcId="{468FBB7B-694A-47BF-865D-2F44C1051453}" destId="{FE969E54-0D5D-4815-BDC4-3309E2F7325D}" srcOrd="2" destOrd="0" parTransId="{B5D9FB86-EEBE-488F-B7DE-B7CF5C9166C5}" sibTransId="{D7D19B67-C01A-45D3-B5C7-B7E1B18A9F62}"/>
    <dgm:cxn modelId="{E6A91EF1-9A0C-4A2D-8321-315E68D3044B}" srcId="{FE969E54-0D5D-4815-BDC4-3309E2F7325D}" destId="{F4D1254B-684D-433A-A37B-10DF0AAD34AC}" srcOrd="0" destOrd="2" parTransId="{972F71F3-2BFE-4AC9-96FD-143902F08745}" sibTransId="{4F62DD99-6041-4AAD-983C-03F350846A6F}"/>
    <dgm:cxn modelId="{958273E7-B617-4DEC-BC20-FD4328234A98}" srcId="{468FBB7B-694A-47BF-865D-2F44C1051453}" destId="{61F0DC84-7FFF-4FDD-9B5D-40960093AE83}" srcOrd="3" destOrd="0" parTransId="{2CB3CEFC-83E6-4DB9-B636-5287ACC11553}" sibTransId="{1FAE29ED-22A2-40FA-904A-0706E8542FE7}"/>
    <dgm:cxn modelId="{A4C01845-8688-4A80-B00E-5B83A070D699}" srcId="{61F0DC84-7FFF-4FDD-9B5D-40960093AE83}" destId="{9007DFF7-BD0D-42B1-B193-288E9B228D72}" srcOrd="0" destOrd="3" parTransId="{E239B93E-6E16-4C78-B28D-A99C31B7AF29}" sibTransId="{17459108-AC20-48EC-8E9C-B2F2513C36A3}"/>
    <dgm:cxn modelId="{45DE438F-3A5C-409D-8CA0-3C610901A2B3}" type="presOf" srcId="{468FBB7B-694A-47BF-865D-2F44C1051453}" destId="{D5FB6A06-3991-4223-AD64-C4F7F6F4DF69}" srcOrd="0" destOrd="0" presId="urn:microsoft.com/office/officeart/2005/8/layout/hList1"/>
    <dgm:cxn modelId="{EBC8A6C0-9717-4624-BCFE-E8CB849A09F1}" type="presParOf" srcId="{D5FB6A06-3991-4223-AD64-C4F7F6F4DF69}" destId="{5EB24CCF-928A-4018-A934-89F31F564A83}" srcOrd="0" destOrd="0" presId="urn:microsoft.com/office/officeart/2005/8/layout/hList1"/>
    <dgm:cxn modelId="{5A67508F-528C-4849-BE0B-5EAA65DB7676}" type="presParOf" srcId="{5EB24CCF-928A-4018-A934-89F31F564A83}" destId="{5D9704F8-5A95-419F-B794-1E2F82666BDB}" srcOrd="0" destOrd="0" presId="urn:microsoft.com/office/officeart/2005/8/layout/hList1"/>
    <dgm:cxn modelId="{41A6381A-46D5-4B25-856C-1012988DDA37}" type="presOf" srcId="{BD5427FF-4EB1-4006-BF7F-42158E0C5129}" destId="{5D9704F8-5A95-419F-B794-1E2F82666BDB}" srcOrd="0" destOrd="0" presId="urn:microsoft.com/office/officeart/2005/8/layout/hList1"/>
    <dgm:cxn modelId="{39E3D634-FA4D-41AF-A20D-BE602DE19128}" type="presParOf" srcId="{5EB24CCF-928A-4018-A934-89F31F564A83}" destId="{C0A6D3D8-DBC2-45B6-8DEF-789A72552BB4}" srcOrd="1" destOrd="0" presId="urn:microsoft.com/office/officeart/2005/8/layout/hList1"/>
    <dgm:cxn modelId="{0DBD8B9D-23B1-47D7-8F93-720A149F5272}" type="presOf" srcId="{3A7B819B-DBE9-4610-B22A-5573EA6D532D}" destId="{C0A6D3D8-DBC2-45B6-8DEF-789A72552BB4}" srcOrd="0" destOrd="0" presId="urn:microsoft.com/office/officeart/2005/8/layout/hList1"/>
    <dgm:cxn modelId="{5734C5C1-071F-4EEE-9A66-5C13DBCC96E1}" type="presParOf" srcId="{D5FB6A06-3991-4223-AD64-C4F7F6F4DF69}" destId="{C4F6D2AE-A2A5-43DC-B705-8E8ECE0E1613}" srcOrd="1" destOrd="0" presId="urn:microsoft.com/office/officeart/2005/8/layout/hList1"/>
    <dgm:cxn modelId="{FE786908-2619-4806-AE14-4158EC6D29F9}" type="presParOf" srcId="{D5FB6A06-3991-4223-AD64-C4F7F6F4DF69}" destId="{34BA2564-6FC0-43D0-AB91-A41C3DA9CCDB}" srcOrd="2" destOrd="0" presId="urn:microsoft.com/office/officeart/2005/8/layout/hList1"/>
    <dgm:cxn modelId="{1CF8854C-18FD-4228-A1F4-B257058C266A}" type="presParOf" srcId="{34BA2564-6FC0-43D0-AB91-A41C3DA9CCDB}" destId="{BF7AE21A-53DC-425E-A637-107E5B798968}" srcOrd="0" destOrd="2" presId="urn:microsoft.com/office/officeart/2005/8/layout/hList1"/>
    <dgm:cxn modelId="{2E252247-9843-44F8-B17F-EDEB74A58855}" type="presOf" srcId="{2687D639-C0DA-487E-96F1-F129BA868166}" destId="{BF7AE21A-53DC-425E-A637-107E5B798968}" srcOrd="0" destOrd="0" presId="urn:microsoft.com/office/officeart/2005/8/layout/hList1"/>
    <dgm:cxn modelId="{4DAC5E21-CF27-4F28-B8CF-46323D9BE802}" type="presParOf" srcId="{34BA2564-6FC0-43D0-AB91-A41C3DA9CCDB}" destId="{4A5D8E3D-DA80-4225-9A2A-013D22A5C3E3}" srcOrd="1" destOrd="2" presId="urn:microsoft.com/office/officeart/2005/8/layout/hList1"/>
    <dgm:cxn modelId="{1C2A386C-8F6A-4DD7-AE62-57E0F7D2AEC4}" type="presOf" srcId="{7CA6C048-68EE-4CC3-8AE9-8DAC5AB78ED8}" destId="{4A5D8E3D-DA80-4225-9A2A-013D22A5C3E3}" srcOrd="0" destOrd="0" presId="urn:microsoft.com/office/officeart/2005/8/layout/hList1"/>
    <dgm:cxn modelId="{385590C6-A0C7-4666-BD0C-170ED8381559}" type="presParOf" srcId="{D5FB6A06-3991-4223-AD64-C4F7F6F4DF69}" destId="{9CD92D6E-F366-4CD6-9CB3-0159CA4CAB55}" srcOrd="3" destOrd="0" presId="urn:microsoft.com/office/officeart/2005/8/layout/hList1"/>
    <dgm:cxn modelId="{E132B630-F95D-43E6-ACCE-659E9F2325B0}" type="presParOf" srcId="{D5FB6A06-3991-4223-AD64-C4F7F6F4DF69}" destId="{C1832C44-4F6B-4ABA-88DC-7D5A80779E4B}" srcOrd="4" destOrd="0" presId="urn:microsoft.com/office/officeart/2005/8/layout/hList1"/>
    <dgm:cxn modelId="{4E92B619-E027-426C-8C75-B1BEC1CDA43D}" type="presParOf" srcId="{C1832C44-4F6B-4ABA-88DC-7D5A80779E4B}" destId="{3E0BA246-3456-471B-AD87-1436FD251DD8}" srcOrd="0" destOrd="4" presId="urn:microsoft.com/office/officeart/2005/8/layout/hList1"/>
    <dgm:cxn modelId="{D4492C05-A443-4584-B5ED-41D204B6EAF2}" type="presOf" srcId="{FE969E54-0D5D-4815-BDC4-3309E2F7325D}" destId="{3E0BA246-3456-471B-AD87-1436FD251DD8}" srcOrd="0" destOrd="0" presId="urn:microsoft.com/office/officeart/2005/8/layout/hList1"/>
    <dgm:cxn modelId="{FC01C82D-6FA7-4266-A6D1-0F3F79D1DC98}" type="presParOf" srcId="{C1832C44-4F6B-4ABA-88DC-7D5A80779E4B}" destId="{33CF15AD-8A19-4E9A-9BED-239A79CAF737}" srcOrd="1" destOrd="4" presId="urn:microsoft.com/office/officeart/2005/8/layout/hList1"/>
    <dgm:cxn modelId="{E86A3603-76F9-4427-A4C8-3992682A1B04}" type="presOf" srcId="{F4D1254B-684D-433A-A37B-10DF0AAD34AC}" destId="{33CF15AD-8A19-4E9A-9BED-239A79CAF737}" srcOrd="0" destOrd="0" presId="urn:microsoft.com/office/officeart/2005/8/layout/hList1"/>
    <dgm:cxn modelId="{72A0A212-7680-4699-943D-3C150D2EEECE}" type="presParOf" srcId="{D5FB6A06-3991-4223-AD64-C4F7F6F4DF69}" destId="{F4639A07-76C8-4329-80D5-712628979A9A}" srcOrd="5" destOrd="0" presId="urn:microsoft.com/office/officeart/2005/8/layout/hList1"/>
    <dgm:cxn modelId="{E96EE593-D9F9-4393-B98A-CFC791E53D72}" type="presParOf" srcId="{D5FB6A06-3991-4223-AD64-C4F7F6F4DF69}" destId="{7F710124-E259-48A5-9895-471DE20AF50E}" srcOrd="6" destOrd="0" presId="urn:microsoft.com/office/officeart/2005/8/layout/hList1"/>
    <dgm:cxn modelId="{4F4E2ADF-0C62-4578-98F4-396F8F95D6BD}" type="presParOf" srcId="{7F710124-E259-48A5-9895-471DE20AF50E}" destId="{FC453BFD-315B-4968-86FA-B7D3125F3320}" srcOrd="0" destOrd="6" presId="urn:microsoft.com/office/officeart/2005/8/layout/hList1"/>
    <dgm:cxn modelId="{01B2C2B6-1782-4B0B-8B61-FCA30A181AF7}" type="presOf" srcId="{61F0DC84-7FFF-4FDD-9B5D-40960093AE83}" destId="{FC453BFD-315B-4968-86FA-B7D3125F3320}" srcOrd="0" destOrd="0" presId="urn:microsoft.com/office/officeart/2005/8/layout/hList1"/>
    <dgm:cxn modelId="{9E913E58-34CE-426F-AA49-CF7B87BD1C82}" type="presParOf" srcId="{7F710124-E259-48A5-9895-471DE20AF50E}" destId="{B357C82A-FE93-416B-AFBF-A74F9E99C4E4}" srcOrd="1" destOrd="6" presId="urn:microsoft.com/office/officeart/2005/8/layout/hList1"/>
    <dgm:cxn modelId="{5AAD4688-899B-49F9-A09A-3778AE3A47DD}" type="presOf" srcId="{9007DFF7-BD0D-42B1-B193-288E9B228D72}" destId="{B357C82A-FE93-416B-AFBF-A74F9E99C4E4}" srcOrd="0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list" loCatId="list" qsTypeId="urn:microsoft.com/office/officeart/2005/8/quickstyle/simple1" qsCatId="simple" csTypeId="urn:microsoft.com/office/officeart/2005/8/colors/colorful2" csCatId="accent1" phldr="1"/>
      <dgm:spPr/>
      <dgm:t>
        <a:bodyPr/>
        <a:p>
          <a:endParaRPr lang="en-US"/>
        </a:p>
      </dgm:t>
    </dgm:pt>
    <dgm:pt modelId="{BD5427FF-4EB1-4006-BF7F-42158E0C5129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b="1">
              <a:latin typeface="Calibri" panose="020F0502020204030204" charset="0"/>
              <a:cs typeface="Calibri" panose="020F0502020204030204" charset="0"/>
            </a:rPr>
            <a:t>S</a:t>
          </a:r>
          <a:r>
            <a:rPr lang="en-IN" altLang="en-US" sz="2800" b="1">
              <a:latin typeface="Calibri" panose="020F0502020204030204" charset="0"/>
              <a:cs typeface="Calibri" panose="020F0502020204030204" charset="0"/>
            </a:rPr>
            <a:t>tuck  Client</a:t>
          </a:r>
          <a:r>
            <a:rPr lang="en-IN" altLang="en-US" sz="2800" b="1">
              <a:latin typeface="Calibri" panose="020F0502020204030204" charset="0"/>
              <a:cs typeface="Calibri" panose="020F0502020204030204" charset="0"/>
            </a:rPr>
            <a:t/>
          </a:r>
          <a:endParaRPr lang="en-IN" altLang="en-US" sz="2800" b="1">
            <a:latin typeface="Calibri" panose="020F0502020204030204" charset="0"/>
            <a:cs typeface="Calibri" panose="020F0502020204030204" charset="0"/>
          </a:endParaRPr>
        </a:p>
      </dgm:t>
    </dgm:pt>
    <dgm:pt modelId="{A2F6D805-3B53-408A-A2A3-20BC3BF0D242}" cxnId="{C1D868EC-C26B-435E-964E-F12817F8B870}" type="parTrans">
      <dgm:prSet/>
      <dgm:spPr/>
      <dgm:t>
        <a:bodyPr/>
        <a:p>
          <a:endParaRPr lang="en-US"/>
        </a:p>
      </dgm:t>
    </dgm:pt>
    <dgm:pt modelId="{D47F9812-1256-4E44-A6BE-BEC559BE8FF3}" cxnId="{C1D868EC-C26B-435E-964E-F12817F8B870}" type="sibTrans">
      <dgm:prSet/>
      <dgm:spPr/>
      <dgm:t>
        <a:bodyPr/>
        <a:p>
          <a:endParaRPr lang="en-US"/>
        </a:p>
      </dgm:t>
    </dgm:pt>
    <dgm:pt modelId="{3A7B819B-DBE9-4610-B22A-5573EA6D532D}">
      <dgm:prSet phldrT="[Text]"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IN" altLang="en-US" sz="2400">
              <a:latin typeface="Calibri" panose="020F0502020204030204" charset="0"/>
              <a:cs typeface="Calibri" panose="020F0502020204030204" charset="0"/>
            </a:rPr>
            <a:t>OD Clients who haven’t made any payment in the past six month.</a:t>
          </a:r>
          <a:endParaRPr lang="en-IN" altLang="en-US" sz="2400">
            <a:latin typeface="Calibri" panose="020F0502020204030204" charset="0"/>
            <a:cs typeface="Calibri" panose="020F0502020204030204" charset="0"/>
          </a:endParaRPr>
        </a:p>
      </dgm:t>
    </dgm:pt>
    <dgm:pt modelId="{DC4BEA23-BF6E-42AD-9BF0-CFBDE86A80F1}" cxnId="{87D5049F-1973-4E90-8944-3E433EBBB7F0}" type="parTrans">
      <dgm:prSet/>
      <dgm:spPr/>
      <dgm:t>
        <a:bodyPr/>
        <a:p>
          <a:endParaRPr lang="en-US"/>
        </a:p>
      </dgm:t>
    </dgm:pt>
    <dgm:pt modelId="{0BF6ACD3-AE1A-4691-8CBE-DBE77AB8A685}" cxnId="{87D5049F-1973-4E90-8944-3E433EBBB7F0}" type="sibTrans">
      <dgm:prSet/>
      <dgm:spPr/>
      <dgm:t>
        <a:bodyPr/>
        <a:p>
          <a:endParaRPr lang="en-US"/>
        </a:p>
      </dgm:t>
    </dgm:pt>
    <dgm:pt modelId="{2687D639-C0DA-487E-96F1-F129BA868166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spc="-10" dirty="0">
              <a:cs typeface="+mn-lt"/>
              <a:sym typeface="+mn-ea"/>
            </a:rPr>
            <a:t>Stuck Center</a:t>
          </a:r>
          <a:endParaRPr lang="en-IN" sz="2800" b="1" spc="-10" dirty="0">
            <a:cs typeface="+mn-lt"/>
            <a:sym typeface="+mn-ea"/>
          </a:endParaRPr>
        </a:p>
      </dgm:t>
    </dgm:pt>
    <dgm:pt modelId="{D8CE1E62-D9A2-47AF-AECB-FB9E47A5E886}" cxnId="{D79D9419-D6B7-4664-BCC5-0BF188BAD367}" type="parTrans">
      <dgm:prSet/>
      <dgm:spPr/>
    </dgm:pt>
    <dgm:pt modelId="{E7E6C078-0337-43C6-AF66-88F4A0909339}" cxnId="{D79D9419-D6B7-4664-BCC5-0BF188BAD367}" type="sibTrans">
      <dgm:prSet/>
      <dgm:spPr/>
    </dgm:pt>
    <dgm:pt modelId="{7CA6C048-68EE-4CC3-8AE9-8DAC5AB78ED8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sz="2400" spc="-10" dirty="0">
              <a:latin typeface="Calibri" panose="020F0502020204030204" charset="0"/>
              <a:cs typeface="Calibri" panose="020F0502020204030204" charset="0"/>
            </a:rPr>
            <a:t/>
          </a:r>
          <a:endParaRPr sz="2400" spc="-10" dirty="0">
            <a:latin typeface="Calibri" panose="020F0502020204030204" charset="0"/>
            <a:cs typeface="Calibri" panose="020F0502020204030204" charset="0"/>
          </a:endParaRPr>
        </a:p>
      </dgm:t>
    </dgm:pt>
    <dgm:pt modelId="{B6FB3855-B800-4158-9ED5-76440C1EADA0}" cxnId="{F6DAF19B-EC8D-42D6-8886-37046D8DF301}" type="parTrans">
      <dgm:prSet/>
      <dgm:spPr/>
    </dgm:pt>
    <dgm:pt modelId="{8A1FBE44-15DE-4084-886B-2F2FF95F43F7}" cxnId="{F6DAF19B-EC8D-42D6-8886-37046D8DF301}" type="sibTrans">
      <dgm:prSet/>
      <dgm:spPr/>
    </dgm:pt>
    <dgm:pt modelId="{FE969E54-0D5D-4815-BDC4-3309E2F7325D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spc="-10" dirty="0">
              <a:cs typeface="+mn-lt"/>
              <a:sym typeface="+mn-ea"/>
            </a:rPr>
            <a:t>Paying Client</a:t>
          </a:r>
          <a:r>
            <a:rPr lang="en-US" sz="2800" b="1" spc="-20" dirty="0">
              <a:latin typeface="Calibri" panose="020F0502020204030204" charset="0"/>
              <a:cs typeface="Calibri" panose="020F0502020204030204" charset="0"/>
              <a:sym typeface="+mn-ea"/>
            </a:rPr>
            <a:t/>
          </a:r>
          <a:endParaRPr lang="en-US" sz="2800" b="1" spc="-20" dirty="0">
            <a:latin typeface="Calibri" panose="020F0502020204030204" charset="0"/>
            <a:cs typeface="Calibri" panose="020F0502020204030204" charset="0"/>
            <a:sym typeface="+mn-ea"/>
          </a:endParaRPr>
        </a:p>
      </dgm:t>
    </dgm:pt>
    <dgm:pt modelId="{B5D9FB86-EEBE-488F-B7DE-B7CF5C9166C5}" cxnId="{FDBBDDE0-79F1-4ED4-90F0-7F90C469D261}" type="parTrans">
      <dgm:prSet/>
      <dgm:spPr/>
      <dgm:t>
        <a:bodyPr/>
        <a:p>
          <a:endParaRPr lang="en-US"/>
        </a:p>
      </dgm:t>
    </dgm:pt>
    <dgm:pt modelId="{D7D19B67-C01A-45D3-B5C7-B7E1B18A9F62}" cxnId="{FDBBDDE0-79F1-4ED4-90F0-7F90C469D261}" type="sibTrans">
      <dgm:prSet/>
      <dgm:spPr/>
      <dgm:t>
        <a:bodyPr/>
        <a:p>
          <a:endParaRPr lang="en-US"/>
        </a:p>
      </dgm:t>
    </dgm:pt>
    <dgm:pt modelId="{F4D1254B-684D-433A-A37B-10DF0AAD34AC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sz="2400">
              <a:sym typeface="+mn-ea"/>
            </a:rPr>
            <a:t>O</a:t>
          </a:r>
          <a:r>
            <a:rPr lang="en-IN" altLang="en-US" sz="2400">
              <a:latin typeface="Calibri" panose="020F0502020204030204" charset="0"/>
              <a:cs typeface="Calibri" panose="020F0502020204030204" charset="0"/>
              <a:sym typeface="+mn-ea"/>
            </a:rPr>
            <a:t>D Clients who haven made  payment in the past 3 month</a:t>
          </a:r>
          <a:r>
            <a:rPr lang="en-IN" altLang="en-US" sz="2400">
              <a:latin typeface="Calibri" panose="020F0502020204030204" charset="0"/>
              <a:cs typeface="Calibri" panose="020F0502020204030204" charset="0"/>
            </a:rPr>
            <a:t/>
          </a:r>
          <a:endParaRPr lang="en-IN" altLang="en-US" sz="2400">
            <a:latin typeface="Calibri" panose="020F0502020204030204" charset="0"/>
            <a:cs typeface="Calibri" panose="020F0502020204030204" charset="0"/>
          </a:endParaRPr>
        </a:p>
      </dgm:t>
    </dgm:pt>
    <dgm:pt modelId="{972F71F3-2BFE-4AC9-96FD-143902F08745}" cxnId="{BDE8E832-1E54-4D54-8486-10EAEBFDBBD0}" type="parTrans">
      <dgm:prSet/>
      <dgm:spPr/>
    </dgm:pt>
    <dgm:pt modelId="{4F62DD99-6041-4AAD-983C-03F350846A6F}" cxnId="{BDE8E832-1E54-4D54-8486-10EAEBFDBBD0}" type="sibTrans">
      <dgm:prSet/>
      <dgm:spPr/>
    </dgm:pt>
    <dgm:pt modelId="{61F0DC84-7FFF-4FDD-9B5D-40960093AE83}">
      <dgm:prSet phldrT="[Text]"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spc="-10" dirty="0">
              <a:cs typeface="+mn-lt"/>
              <a:sym typeface="+mn-ea"/>
            </a:rPr>
            <a:t>Non-</a:t>
          </a:r>
          <a:r>
            <a:rPr lang="en-IN" sz="2800" b="1" spc="-10" dirty="0">
              <a:cs typeface="+mn-lt"/>
              <a:sym typeface="+mn-ea"/>
            </a:rPr>
            <a:t>Paying Client</a:t>
          </a:r>
          <a:r>
            <a:rPr lang="en-US" sz="2800" b="1" spc="-10" dirty="0">
              <a:latin typeface="Calibri" panose="020F0502020204030204" charset="0"/>
              <a:cs typeface="Calibri" panose="020F0502020204030204" charset="0"/>
              <a:sym typeface="+mn-ea"/>
            </a:rPr>
            <a:t/>
          </a:r>
          <a:endParaRPr lang="en-US" sz="2800" b="1" spc="-10" dirty="0">
            <a:latin typeface="Calibri" panose="020F0502020204030204" charset="0"/>
            <a:cs typeface="Calibri" panose="020F0502020204030204" charset="0"/>
            <a:sym typeface="+mn-ea"/>
          </a:endParaRPr>
        </a:p>
      </dgm:t>
    </dgm:pt>
    <dgm:pt modelId="{2CB3CEFC-83E6-4DB9-B636-5287ACC11553}" cxnId="{C18D1160-1332-4899-922C-9C8E6EDF79EA}" type="parTrans">
      <dgm:prSet/>
      <dgm:spPr/>
      <dgm:t>
        <a:bodyPr/>
        <a:p>
          <a:endParaRPr lang="en-US"/>
        </a:p>
      </dgm:t>
    </dgm:pt>
    <dgm:pt modelId="{1FAE29ED-22A2-40FA-904A-0706E8542FE7}" cxnId="{C18D1160-1332-4899-922C-9C8E6EDF79EA}" type="sibTrans">
      <dgm:prSet/>
      <dgm:spPr/>
      <dgm:t>
        <a:bodyPr/>
        <a:p>
          <a:endParaRPr lang="en-US"/>
        </a:p>
      </dgm:t>
    </dgm:pt>
    <dgm:pt modelId="{9007DFF7-BD0D-42B1-B193-288E9B228D72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sz="2200">
              <a:sym typeface="+mn-ea"/>
            </a:rPr>
            <a:t>O</a:t>
          </a:r>
          <a:r>
            <a:rPr lang="en-IN" altLang="en-US" sz="2200">
              <a:latin typeface="Calibri" panose="020F0502020204030204" charset="0"/>
              <a:cs typeface="Calibri" panose="020F0502020204030204" charset="0"/>
              <a:sym typeface="+mn-ea"/>
            </a:rPr>
            <a:t>D Clients who haven’t made any payment in the past 3 month.</a:t>
          </a:r>
          <a:r>
            <a:rPr lang="en-IN" altLang="en-US" sz="2200">
              <a:latin typeface="Calibri" panose="020F0502020204030204" charset="0"/>
              <a:cs typeface="Calibri" panose="020F0502020204030204" charset="0"/>
            </a:rPr>
            <a:t/>
          </a:r>
          <a:endParaRPr lang="en-IN" altLang="en-US" sz="2200">
            <a:latin typeface="Calibri" panose="020F0502020204030204" charset="0"/>
            <a:cs typeface="Calibri" panose="020F0502020204030204" charset="0"/>
          </a:endParaRPr>
        </a:p>
      </dgm:t>
    </dgm:pt>
    <dgm:pt modelId="{E239B93E-6E16-4C78-B28D-A99C31B7AF29}" cxnId="{ABE839DE-8C28-4000-BC03-C25CB0C4C405}" type="parTrans">
      <dgm:prSet/>
      <dgm:spPr/>
    </dgm:pt>
    <dgm:pt modelId="{17459108-AC20-48EC-8E9C-B2F2513C36A3}" cxnId="{ABE839DE-8C28-4000-BC03-C25CB0C4C405}" type="sibTrans">
      <dgm:prSet/>
      <dgm:spPr/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4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34BA2564-6FC0-43D0-AB91-A41C3DA9CCDB}" type="pres">
      <dgm:prSet presAssocID="{2687D639-C0DA-487E-96F1-F129BA868166}" presName="composite" presStyleCnt="0"/>
      <dgm:spPr/>
    </dgm:pt>
    <dgm:pt modelId="{BF7AE21A-53DC-425E-A637-107E5B798968}" type="pres">
      <dgm:prSet presAssocID="{2687D639-C0DA-487E-96F1-F129BA868166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4A5D8E3D-DA80-4225-9A2A-013D22A5C3E3}" type="pres">
      <dgm:prSet presAssocID="{2687D639-C0DA-487E-96F1-F129BA868166}" presName="desTx" presStyleLbl="alignAccFollowNode1" presStyleIdx="1" presStyleCnt="4">
        <dgm:presLayoutVars>
          <dgm:bulletEnabled val="1"/>
        </dgm:presLayoutVars>
      </dgm:prSet>
      <dgm:spPr/>
    </dgm:pt>
    <dgm:pt modelId="{9CD92D6E-F366-4CD6-9CB3-0159CA4CAB55}" type="pres">
      <dgm:prSet presAssocID="{E7E6C078-0337-43C6-AF66-88F4A0909339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2" presStyleCnt="4">
        <dgm:presLayoutVars>
          <dgm:bulletEnabled val="1"/>
        </dgm:presLayoutVars>
      </dgm:prSet>
      <dgm:spPr/>
    </dgm:pt>
    <dgm:pt modelId="{F4639A07-76C8-4329-80D5-712628979A9A}" type="pres">
      <dgm:prSet presAssocID="{D7D19B67-C01A-45D3-B5C7-B7E1B18A9F62}" presName="space" presStyleCnt="0"/>
      <dgm:spPr/>
    </dgm:pt>
    <dgm:pt modelId="{7F710124-E259-48A5-9895-471DE20AF50E}" type="pres">
      <dgm:prSet presAssocID="{61F0DC84-7FFF-4FDD-9B5D-40960093AE83}" presName="composite" presStyleCnt="0"/>
      <dgm:spPr/>
    </dgm:pt>
    <dgm:pt modelId="{FC453BFD-315B-4968-86FA-B7D3125F3320}" type="pres">
      <dgm:prSet presAssocID="{61F0DC84-7FFF-4FDD-9B5D-40960093AE83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357C82A-FE93-416B-AFBF-A74F9E99C4E4}" type="pres">
      <dgm:prSet presAssocID="{61F0DC84-7FFF-4FDD-9B5D-40960093AE83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C1D868EC-C26B-435E-964E-F12817F8B870}" srcId="{468FBB7B-694A-47BF-865D-2F44C1051453}" destId="{BD5427FF-4EB1-4006-BF7F-42158E0C5129}" srcOrd="0" destOrd="0" parTransId="{A2F6D805-3B53-408A-A2A3-20BC3BF0D242}" sibTransId="{D47F9812-1256-4E44-A6BE-BEC559BE8FF3}"/>
    <dgm:cxn modelId="{87D5049F-1973-4E90-8944-3E433EBBB7F0}" srcId="{BD5427FF-4EB1-4006-BF7F-42158E0C5129}" destId="{3A7B819B-DBE9-4610-B22A-5573EA6D532D}" srcOrd="0" destOrd="0" parTransId="{DC4BEA23-BF6E-42AD-9BF0-CFBDE86A80F1}" sibTransId="{0BF6ACD3-AE1A-4691-8CBE-DBE77AB8A685}"/>
    <dgm:cxn modelId="{D79D9419-D6B7-4664-BCC5-0BF188BAD367}" srcId="{468FBB7B-694A-47BF-865D-2F44C1051453}" destId="{2687D639-C0DA-487E-96F1-F129BA868166}" srcOrd="1" destOrd="0" parTransId="{D8CE1E62-D9A2-47AF-AECB-FB9E47A5E886}" sibTransId="{E7E6C078-0337-43C6-AF66-88F4A0909339}"/>
    <dgm:cxn modelId="{F6DAF19B-EC8D-42D6-8886-37046D8DF301}" srcId="{2687D639-C0DA-487E-96F1-F129BA868166}" destId="{7CA6C048-68EE-4CC3-8AE9-8DAC5AB78ED8}" srcOrd="0" destOrd="1" parTransId="{B6FB3855-B800-4158-9ED5-76440C1EADA0}" sibTransId="{8A1FBE44-15DE-4084-886B-2F2FF95F43F7}"/>
    <dgm:cxn modelId="{FDBBDDE0-79F1-4ED4-90F0-7F90C469D261}" srcId="{468FBB7B-694A-47BF-865D-2F44C1051453}" destId="{FE969E54-0D5D-4815-BDC4-3309E2F7325D}" srcOrd="2" destOrd="0" parTransId="{B5D9FB86-EEBE-488F-B7DE-B7CF5C9166C5}" sibTransId="{D7D19B67-C01A-45D3-B5C7-B7E1B18A9F62}"/>
    <dgm:cxn modelId="{BDE8E832-1E54-4D54-8486-10EAEBFDBBD0}" srcId="{FE969E54-0D5D-4815-BDC4-3309E2F7325D}" destId="{F4D1254B-684D-433A-A37B-10DF0AAD34AC}" srcOrd="0" destOrd="2" parTransId="{972F71F3-2BFE-4AC9-96FD-143902F08745}" sibTransId="{4F62DD99-6041-4AAD-983C-03F350846A6F}"/>
    <dgm:cxn modelId="{C18D1160-1332-4899-922C-9C8E6EDF79EA}" srcId="{468FBB7B-694A-47BF-865D-2F44C1051453}" destId="{61F0DC84-7FFF-4FDD-9B5D-40960093AE83}" srcOrd="3" destOrd="0" parTransId="{2CB3CEFC-83E6-4DB9-B636-5287ACC11553}" sibTransId="{1FAE29ED-22A2-40FA-904A-0706E8542FE7}"/>
    <dgm:cxn modelId="{ABE839DE-8C28-4000-BC03-C25CB0C4C405}" srcId="{61F0DC84-7FFF-4FDD-9B5D-40960093AE83}" destId="{9007DFF7-BD0D-42B1-B193-288E9B228D72}" srcOrd="0" destOrd="3" parTransId="{E239B93E-6E16-4C78-B28D-A99C31B7AF29}" sibTransId="{17459108-AC20-48EC-8E9C-B2F2513C36A3}"/>
    <dgm:cxn modelId="{3A3E4B0E-7A4E-44DC-AB32-62630558157E}" type="presOf" srcId="{468FBB7B-694A-47BF-865D-2F44C1051453}" destId="{D5FB6A06-3991-4223-AD64-C4F7F6F4DF69}" srcOrd="0" destOrd="0" presId="urn:microsoft.com/office/officeart/2005/8/layout/hList1"/>
    <dgm:cxn modelId="{45BC3BE0-70EA-42AA-95AA-C808E1865518}" type="presParOf" srcId="{D5FB6A06-3991-4223-AD64-C4F7F6F4DF69}" destId="{5EB24CCF-928A-4018-A934-89F31F564A83}" srcOrd="0" destOrd="0" presId="urn:microsoft.com/office/officeart/2005/8/layout/hList1"/>
    <dgm:cxn modelId="{45AEABE3-0658-4089-BE09-A7550144A5C4}" type="presParOf" srcId="{5EB24CCF-928A-4018-A934-89F31F564A83}" destId="{5D9704F8-5A95-419F-B794-1E2F82666BDB}" srcOrd="0" destOrd="0" presId="urn:microsoft.com/office/officeart/2005/8/layout/hList1"/>
    <dgm:cxn modelId="{0D13C122-6951-46A4-AD86-3B7835670943}" type="presOf" srcId="{BD5427FF-4EB1-4006-BF7F-42158E0C5129}" destId="{5D9704F8-5A95-419F-B794-1E2F82666BDB}" srcOrd="0" destOrd="0" presId="urn:microsoft.com/office/officeart/2005/8/layout/hList1"/>
    <dgm:cxn modelId="{636B63CA-38CD-4D14-951C-01E2C2E9F87A}" type="presParOf" srcId="{5EB24CCF-928A-4018-A934-89F31F564A83}" destId="{C0A6D3D8-DBC2-45B6-8DEF-789A72552BB4}" srcOrd="1" destOrd="0" presId="urn:microsoft.com/office/officeart/2005/8/layout/hList1"/>
    <dgm:cxn modelId="{34575CEE-88DC-4715-A001-2F5FBBFD8B58}" type="presOf" srcId="{3A7B819B-DBE9-4610-B22A-5573EA6D532D}" destId="{C0A6D3D8-DBC2-45B6-8DEF-789A72552BB4}" srcOrd="0" destOrd="0" presId="urn:microsoft.com/office/officeart/2005/8/layout/hList1"/>
    <dgm:cxn modelId="{4CAC6F3D-EE2D-416C-A3D3-9D3C8049C43C}" type="presParOf" srcId="{D5FB6A06-3991-4223-AD64-C4F7F6F4DF69}" destId="{C4F6D2AE-A2A5-43DC-B705-8E8ECE0E1613}" srcOrd="1" destOrd="0" presId="urn:microsoft.com/office/officeart/2005/8/layout/hList1"/>
    <dgm:cxn modelId="{ADBA8775-7ADD-4F1B-B028-C7051280FBDC}" type="presParOf" srcId="{D5FB6A06-3991-4223-AD64-C4F7F6F4DF69}" destId="{34BA2564-6FC0-43D0-AB91-A41C3DA9CCDB}" srcOrd="2" destOrd="0" presId="urn:microsoft.com/office/officeart/2005/8/layout/hList1"/>
    <dgm:cxn modelId="{82F72F22-7DEF-4F5D-936B-354D58B53620}" type="presParOf" srcId="{34BA2564-6FC0-43D0-AB91-A41C3DA9CCDB}" destId="{BF7AE21A-53DC-425E-A637-107E5B798968}" srcOrd="0" destOrd="2" presId="urn:microsoft.com/office/officeart/2005/8/layout/hList1"/>
    <dgm:cxn modelId="{8FE62900-94F4-4659-9E35-7D94BB23DB34}" type="presOf" srcId="{2687D639-C0DA-487E-96F1-F129BA868166}" destId="{BF7AE21A-53DC-425E-A637-107E5B798968}" srcOrd="0" destOrd="0" presId="urn:microsoft.com/office/officeart/2005/8/layout/hList1"/>
    <dgm:cxn modelId="{961D2174-3BA8-480F-A5B5-03777040DC5A}" type="presParOf" srcId="{34BA2564-6FC0-43D0-AB91-A41C3DA9CCDB}" destId="{4A5D8E3D-DA80-4225-9A2A-013D22A5C3E3}" srcOrd="1" destOrd="2" presId="urn:microsoft.com/office/officeart/2005/8/layout/hList1"/>
    <dgm:cxn modelId="{67250605-2B8B-4C27-8A25-44126827CEAB}" type="presOf" srcId="{7CA6C048-68EE-4CC3-8AE9-8DAC5AB78ED8}" destId="{4A5D8E3D-DA80-4225-9A2A-013D22A5C3E3}" srcOrd="0" destOrd="0" presId="urn:microsoft.com/office/officeart/2005/8/layout/hList1"/>
    <dgm:cxn modelId="{3F24A20A-3E40-4BF7-8630-7D503FBF3DCD}" type="presParOf" srcId="{D5FB6A06-3991-4223-AD64-C4F7F6F4DF69}" destId="{9CD92D6E-F366-4CD6-9CB3-0159CA4CAB55}" srcOrd="3" destOrd="0" presId="urn:microsoft.com/office/officeart/2005/8/layout/hList1"/>
    <dgm:cxn modelId="{AC995795-CA76-4C20-AEFD-E317B93EC5B8}" type="presParOf" srcId="{D5FB6A06-3991-4223-AD64-C4F7F6F4DF69}" destId="{C1832C44-4F6B-4ABA-88DC-7D5A80779E4B}" srcOrd="4" destOrd="0" presId="urn:microsoft.com/office/officeart/2005/8/layout/hList1"/>
    <dgm:cxn modelId="{A45FDAFB-D170-4FBB-A634-59AFCC1E0B25}" type="presParOf" srcId="{C1832C44-4F6B-4ABA-88DC-7D5A80779E4B}" destId="{3E0BA246-3456-471B-AD87-1436FD251DD8}" srcOrd="0" destOrd="4" presId="urn:microsoft.com/office/officeart/2005/8/layout/hList1"/>
    <dgm:cxn modelId="{597740DB-A80E-4725-B371-B0066FEA64AB}" type="presOf" srcId="{FE969E54-0D5D-4815-BDC4-3309E2F7325D}" destId="{3E0BA246-3456-471B-AD87-1436FD251DD8}" srcOrd="0" destOrd="0" presId="urn:microsoft.com/office/officeart/2005/8/layout/hList1"/>
    <dgm:cxn modelId="{FDF62044-1764-4712-8A0A-DB25E6AE0A02}" type="presParOf" srcId="{C1832C44-4F6B-4ABA-88DC-7D5A80779E4B}" destId="{33CF15AD-8A19-4E9A-9BED-239A79CAF737}" srcOrd="1" destOrd="4" presId="urn:microsoft.com/office/officeart/2005/8/layout/hList1"/>
    <dgm:cxn modelId="{9F59C351-0112-4B3B-834C-8600D83203B6}" type="presOf" srcId="{F4D1254B-684D-433A-A37B-10DF0AAD34AC}" destId="{33CF15AD-8A19-4E9A-9BED-239A79CAF737}" srcOrd="0" destOrd="0" presId="urn:microsoft.com/office/officeart/2005/8/layout/hList1"/>
    <dgm:cxn modelId="{C7F68212-3347-4F58-A7E2-663625F0B9E6}" type="presParOf" srcId="{D5FB6A06-3991-4223-AD64-C4F7F6F4DF69}" destId="{F4639A07-76C8-4329-80D5-712628979A9A}" srcOrd="5" destOrd="0" presId="urn:microsoft.com/office/officeart/2005/8/layout/hList1"/>
    <dgm:cxn modelId="{461C7E74-5D61-481C-BBFF-5ADB23C3917F}" type="presParOf" srcId="{D5FB6A06-3991-4223-AD64-C4F7F6F4DF69}" destId="{7F710124-E259-48A5-9895-471DE20AF50E}" srcOrd="6" destOrd="0" presId="urn:microsoft.com/office/officeart/2005/8/layout/hList1"/>
    <dgm:cxn modelId="{64A01F01-6668-4CCF-823A-D0DD8C1813C8}" type="presParOf" srcId="{7F710124-E259-48A5-9895-471DE20AF50E}" destId="{FC453BFD-315B-4968-86FA-B7D3125F3320}" srcOrd="0" destOrd="6" presId="urn:microsoft.com/office/officeart/2005/8/layout/hList1"/>
    <dgm:cxn modelId="{7D7CDFD5-3CC1-4E0D-BA4F-9306A913E980}" type="presOf" srcId="{61F0DC84-7FFF-4FDD-9B5D-40960093AE83}" destId="{FC453BFD-315B-4968-86FA-B7D3125F3320}" srcOrd="0" destOrd="0" presId="urn:microsoft.com/office/officeart/2005/8/layout/hList1"/>
    <dgm:cxn modelId="{C071B017-CA1A-441D-85A7-38242A0F810E}" type="presParOf" srcId="{7F710124-E259-48A5-9895-471DE20AF50E}" destId="{B357C82A-FE93-416B-AFBF-A74F9E99C4E4}" srcOrd="1" destOrd="6" presId="urn:microsoft.com/office/officeart/2005/8/layout/hList1"/>
    <dgm:cxn modelId="{9C5CAC61-B46F-466B-B290-584B8764E5C6}" type="presOf" srcId="{9007DFF7-BD0D-42B1-B193-288E9B228D72}" destId="{B357C82A-FE93-416B-AFBF-A74F9E99C4E4}" srcOrd="0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303000" cy="5913120"/>
        <a:chOff x="0" y="0"/>
        <a:chExt cx="11303000" cy="5913120"/>
      </a:xfrm>
    </dsp:grpSpPr>
    <dsp:sp modelId="{5D9704F8-5A95-419F-B794-1E2F82666BDB}">
      <dsp:nvSpPr>
        <dsp:cNvPr id="3" name="Rectangles 2"/>
        <dsp:cNvSpPr/>
      </dsp:nvSpPr>
      <dsp:spPr bwMode="white">
        <a:xfrm>
          <a:off x="0" y="1017712"/>
          <a:ext cx="2557240" cy="1022896"/>
        </a:xfrm>
        <a:prstGeom prst="rect">
          <a:avLst/>
        </a:prstGeom>
      </dsp:spPr>
      <dsp:style>
        <a:lnRef idx="2">
          <a:schemeClr val="accent3">
            <a:hueOff val="0"/>
            <a:satOff val="0"/>
            <a:lumOff val="0"/>
            <a:alpha val="100000"/>
          </a:schemeClr>
        </a:lnRef>
        <a:fillRef idx="1">
          <a:schemeClr val="accent3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 b="1" spc="-10" dirty="0">
              <a:latin typeface="Calibri" panose="020F0502020204030204" charset="0"/>
              <a:cs typeface="Calibri" panose="020F0502020204030204" charset="0"/>
              <a:sym typeface="+mn-ea"/>
            </a:rPr>
            <a:t>Knockout</a:t>
          </a:r>
          <a:endParaRPr lang="en-US" sz="2800">
            <a:latin typeface="Calibri" panose="020F0502020204030204" charset="0"/>
            <a:cs typeface="Calibri" panose="020F0502020204030204" charset="0"/>
          </a:endParaRPr>
        </a:p>
      </dsp:txBody>
      <dsp:txXfrm>
        <a:off x="0" y="1017712"/>
        <a:ext cx="2557240" cy="1022896"/>
      </dsp:txXfrm>
    </dsp:sp>
    <dsp:sp modelId="{C0A6D3D8-DBC2-45B6-8DEF-789A72552BB4}">
      <dsp:nvSpPr>
        <dsp:cNvPr id="4" name="Rectangles 3"/>
        <dsp:cNvSpPr/>
      </dsp:nvSpPr>
      <dsp:spPr bwMode="white">
        <a:xfrm>
          <a:off x="0" y="2040608"/>
          <a:ext cx="2557240" cy="2854800"/>
        </a:xfrm>
        <a:prstGeom prst="rect">
          <a:avLst/>
        </a:prstGeom>
      </dsp:spPr>
      <dsp:style>
        <a:lnRef idx="2">
          <a:schemeClr val="accent3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3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400" spc="-2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100%</a:t>
          </a:r>
          <a:r>
            <a:rPr sz="2400" spc="-13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7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OD</a:t>
          </a:r>
          <a:r>
            <a:rPr sz="2400" spc="-12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-1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Collection</a:t>
          </a:r>
          <a:r>
            <a:rPr sz="2400" spc="-12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-4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from</a:t>
          </a:r>
          <a:r>
            <a:rPr sz="2400" spc="-14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-6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the</a:t>
          </a:r>
          <a:r>
            <a:rPr sz="2400" spc="-13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 spc="-1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borrower</a:t>
          </a:r>
          <a:endParaRPr lang="en-US" sz="240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>
        <a:off x="0" y="2040608"/>
        <a:ext cx="2557240" cy="2854800"/>
      </dsp:txXfrm>
    </dsp:sp>
    <dsp:sp modelId="{BF7AE21A-53DC-425E-A637-107E5B798968}">
      <dsp:nvSpPr>
        <dsp:cNvPr id="9" name="Rectangles 8"/>
        <dsp:cNvSpPr/>
      </dsp:nvSpPr>
      <dsp:spPr bwMode="white">
        <a:xfrm>
          <a:off x="2915253" y="1017712"/>
          <a:ext cx="2557240" cy="1022896"/>
        </a:xfrm>
        <a:prstGeom prst="rect">
          <a:avLst/>
        </a:prstGeom>
      </dsp:spPr>
      <dsp:style>
        <a:lnRef idx="2">
          <a:schemeClr val="accent3">
            <a:hueOff val="3760000"/>
            <a:satOff val="-5620"/>
            <a:lumOff val="-914"/>
            <a:alpha val="100000"/>
          </a:schemeClr>
        </a:lnRef>
        <a:fillRef idx="1">
          <a:schemeClr val="accent3">
            <a:hueOff val="3760000"/>
            <a:satOff val="-5620"/>
            <a:lumOff val="-91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 b="1">
              <a:cs typeface="+mn-lt"/>
              <a:sym typeface="+mn-ea"/>
            </a:rPr>
            <a:t>C</a:t>
          </a:r>
          <a:r>
            <a:rPr sz="2800" b="1" spc="-20" dirty="0">
              <a:cs typeface="+mn-lt"/>
              <a:sym typeface="+mn-ea"/>
            </a:rPr>
            <a:t>lien</a:t>
          </a:r>
          <a:r>
            <a:rPr sz="2800" b="1" spc="-20" dirty="0">
              <a:cs typeface="+mn-lt"/>
              <a:sym typeface="+mn-ea"/>
            </a:rPr>
            <a:t>t</a:t>
          </a:r>
          <a:r>
            <a:rPr sz="2800">
              <a:cs typeface="+mn-lt"/>
              <a:sym typeface="+mn-ea"/>
            </a:rPr>
            <a:t> </a:t>
          </a:r>
          <a:r>
            <a:rPr sz="2800" b="1">
              <a:cs typeface="+mn-lt"/>
              <a:sym typeface="+mn-ea"/>
            </a:rPr>
            <a:t>A</a:t>
          </a:r>
          <a:r>
            <a:rPr sz="2800" b="1" spc="-10" dirty="0">
              <a:cs typeface="+mn-lt"/>
              <a:sym typeface="+mn-ea"/>
            </a:rPr>
            <a:t>ctivation</a:t>
          </a:r>
          <a:endParaRPr sz="2800" b="1" spc="-10" dirty="0">
            <a:cs typeface="+mn-lt"/>
            <a:sym typeface="+mn-ea"/>
          </a:endParaRPr>
        </a:p>
      </dsp:txBody>
      <dsp:txXfrm>
        <a:off x="2915253" y="1017712"/>
        <a:ext cx="2557240" cy="1022896"/>
      </dsp:txXfrm>
    </dsp:sp>
    <dsp:sp modelId="{4A5D8E3D-DA80-4225-9A2A-013D22A5C3E3}">
      <dsp:nvSpPr>
        <dsp:cNvPr id="10" name="Rectangles 9"/>
        <dsp:cNvSpPr/>
      </dsp:nvSpPr>
      <dsp:spPr bwMode="white">
        <a:xfrm>
          <a:off x="2915253" y="2040608"/>
          <a:ext cx="2557240" cy="2854800"/>
        </a:xfrm>
        <a:prstGeom prst="rect">
          <a:avLst/>
        </a:prstGeom>
      </dsp:spPr>
      <dsp:style>
        <a:lnRef idx="2">
          <a:schemeClr val="accent3">
            <a:tint val="40000"/>
            <a:alpha val="90000"/>
            <a:hueOff val="3580000"/>
            <a:satOff val="-4705"/>
            <a:lumOff val="-260"/>
            <a:alpha val="90196"/>
          </a:schemeClr>
        </a:lnRef>
        <a:fillRef idx="1">
          <a:schemeClr val="accent3">
            <a:tint val="40000"/>
            <a:alpha val="90000"/>
            <a:hueOff val="3580000"/>
            <a:satOff val="-4705"/>
            <a:lumOff val="-260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M</a:t>
          </a:r>
          <a:r>
            <a:rPr sz="240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inimum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1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E</a:t>
          </a:r>
          <a:r>
            <a:rPr sz="240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MI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C</a:t>
          </a:r>
          <a:r>
            <a:rPr sz="2400" spc="-1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ollection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f</a:t>
          </a:r>
          <a:r>
            <a:rPr sz="2400" spc="-4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rom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t</a:t>
          </a:r>
          <a:r>
            <a:rPr sz="2400" spc="-6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he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a</a:t>
          </a:r>
          <a:r>
            <a:rPr sz="2400" spc="-6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rrear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c</a:t>
          </a:r>
          <a:r>
            <a:rPr sz="2400" spc="-1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lient</a:t>
          </a:r>
          <a:endParaRPr sz="2400" spc="-10" dirty="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>
        <a:off x="2915253" y="2040608"/>
        <a:ext cx="2557240" cy="2854800"/>
      </dsp:txXfrm>
    </dsp:sp>
    <dsp:sp modelId="{3E0BA246-3456-471B-AD87-1436FD251DD8}">
      <dsp:nvSpPr>
        <dsp:cNvPr id="5" name="Rectangles 4"/>
        <dsp:cNvSpPr/>
      </dsp:nvSpPr>
      <dsp:spPr bwMode="white">
        <a:xfrm>
          <a:off x="5830507" y="1017712"/>
          <a:ext cx="2557240" cy="1022896"/>
        </a:xfrm>
        <a:prstGeom prst="rect">
          <a:avLst/>
        </a:prstGeom>
      </dsp:spPr>
      <dsp:style>
        <a:lnRef idx="2">
          <a:schemeClr val="accent3">
            <a:hueOff val="7520000"/>
            <a:satOff val="-11241"/>
            <a:lumOff val="-1829"/>
            <a:alpha val="100000"/>
          </a:schemeClr>
        </a:lnRef>
        <a:fillRef idx="1">
          <a:schemeClr val="accent3">
            <a:hueOff val="7520000"/>
            <a:satOff val="-11241"/>
            <a:lumOff val="-1829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 b="1" spc="-40" dirty="0">
              <a:latin typeface="Calibri" panose="020F0502020204030204" charset="0"/>
              <a:cs typeface="Calibri" panose="020F0502020204030204" charset="0"/>
              <a:sym typeface="+mn-ea"/>
            </a:rPr>
            <a:t>Partial</a:t>
          </a:r>
          <a:r>
            <a:rPr sz="2800" b="1" spc="-75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800" b="1" spc="-20" dirty="0">
              <a:latin typeface="Calibri" panose="020F0502020204030204" charset="0"/>
              <a:cs typeface="Calibri" panose="020F0502020204030204" charset="0"/>
              <a:sym typeface="+mn-ea"/>
            </a:rPr>
            <a:t>Paid</a:t>
          </a:r>
          <a:endParaRPr lang="en-US" sz="2800" b="1" spc="-20" dirty="0">
            <a:latin typeface="Calibri" panose="020F0502020204030204" charset="0"/>
            <a:cs typeface="Calibri" panose="020F0502020204030204" charset="0"/>
            <a:sym typeface="+mn-ea"/>
          </a:endParaRPr>
        </a:p>
      </dsp:txBody>
      <dsp:txXfrm>
        <a:off x="5830507" y="1017712"/>
        <a:ext cx="2557240" cy="1022896"/>
      </dsp:txXfrm>
    </dsp:sp>
    <dsp:sp modelId="{33CF15AD-8A19-4E9A-9BED-239A79CAF737}">
      <dsp:nvSpPr>
        <dsp:cNvPr id="6" name="Rectangles 5"/>
        <dsp:cNvSpPr/>
      </dsp:nvSpPr>
      <dsp:spPr bwMode="white">
        <a:xfrm>
          <a:off x="5830507" y="2040608"/>
          <a:ext cx="2557240" cy="2854800"/>
        </a:xfrm>
        <a:prstGeom prst="rect">
          <a:avLst/>
        </a:prstGeom>
      </dsp:spPr>
      <dsp:style>
        <a:lnRef idx="2">
          <a:schemeClr val="accent3">
            <a:tint val="40000"/>
            <a:alpha val="90000"/>
            <a:hueOff val="7160000"/>
            <a:satOff val="-9411"/>
            <a:lumOff val="-522"/>
            <a:alpha val="90196"/>
          </a:schemeClr>
        </a:lnRef>
        <a:fillRef idx="1">
          <a:schemeClr val="accent3">
            <a:tint val="40000"/>
            <a:alpha val="90000"/>
            <a:hueOff val="7160000"/>
            <a:satOff val="-9411"/>
            <a:lumOff val="-522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O</a:t>
          </a:r>
          <a:r>
            <a:rPr sz="2400" spc="7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D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A</a:t>
          </a:r>
          <a:r>
            <a:rPr sz="2400" spc="-3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mount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c</a:t>
          </a:r>
          <a:r>
            <a:rPr sz="2400" spc="-2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ollection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l</a:t>
          </a:r>
          <a:r>
            <a:rPr sz="2400" spc="5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ess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t</a:t>
          </a:r>
          <a:r>
            <a:rPr sz="2400" spc="-3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han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1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E</a:t>
          </a:r>
          <a:r>
            <a:rPr sz="2400" spc="-2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MI</a:t>
          </a:r>
          <a:endParaRPr sz="2400" spc="-25" dirty="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>
        <a:off x="5830507" y="2040608"/>
        <a:ext cx="2557240" cy="2854800"/>
      </dsp:txXfrm>
    </dsp:sp>
    <dsp:sp modelId="{FC453BFD-315B-4968-86FA-B7D3125F3320}">
      <dsp:nvSpPr>
        <dsp:cNvPr id="7" name="Rectangles 6"/>
        <dsp:cNvSpPr/>
      </dsp:nvSpPr>
      <dsp:spPr bwMode="white">
        <a:xfrm>
          <a:off x="8745760" y="1017712"/>
          <a:ext cx="2557240" cy="1022896"/>
        </a:xfrm>
        <a:prstGeom prst="rect">
          <a:avLst/>
        </a:prstGeom>
      </dsp:spPr>
      <dsp:style>
        <a:lnRef idx="2">
          <a:schemeClr val="accent3">
            <a:hueOff val="11280000"/>
            <a:satOff val="-16862"/>
            <a:lumOff val="-2744"/>
            <a:alpha val="100000"/>
          </a:schemeClr>
        </a:lnRef>
        <a:fillRef idx="1">
          <a:schemeClr val="accent3">
            <a:hueOff val="11280000"/>
            <a:satOff val="-16862"/>
            <a:lumOff val="-274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sz="2800" b="1" dirty="0">
              <a:latin typeface="Calibri" panose="020F0502020204030204" charset="0"/>
              <a:cs typeface="Calibri" panose="020F0502020204030204" charset="0"/>
              <a:sym typeface="+mn-ea"/>
            </a:rPr>
            <a:t>Not</a:t>
          </a:r>
          <a:r>
            <a:rPr sz="2800" b="1" spc="-140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800" b="1" spc="-10" dirty="0">
              <a:latin typeface="Calibri" panose="020F0502020204030204" charset="0"/>
              <a:cs typeface="Calibri" panose="020F0502020204030204" charset="0"/>
              <a:sym typeface="+mn-ea"/>
            </a:rPr>
            <a:t>Paid</a:t>
          </a:r>
          <a:r>
            <a:rPr sz="2800" b="1" spc="-135" dirty="0"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800" b="1" spc="-10" dirty="0">
              <a:latin typeface="Calibri" panose="020F0502020204030204" charset="0"/>
              <a:cs typeface="Calibri" panose="020F0502020204030204" charset="0"/>
              <a:sym typeface="+mn-ea"/>
            </a:rPr>
            <a:t>Clients</a:t>
          </a:r>
          <a:endParaRPr lang="en-US" sz="2800" b="1" spc="-10" dirty="0">
            <a:latin typeface="Calibri" panose="020F0502020204030204" charset="0"/>
            <a:cs typeface="Calibri" panose="020F0502020204030204" charset="0"/>
            <a:sym typeface="+mn-ea"/>
          </a:endParaRPr>
        </a:p>
      </dsp:txBody>
      <dsp:txXfrm>
        <a:off x="8745760" y="1017712"/>
        <a:ext cx="2557240" cy="1022896"/>
      </dsp:txXfrm>
    </dsp:sp>
    <dsp:sp modelId="{B357C82A-FE93-416B-AFBF-A74F9E99C4E4}">
      <dsp:nvSpPr>
        <dsp:cNvPr id="8" name="Rectangles 7"/>
        <dsp:cNvSpPr/>
      </dsp:nvSpPr>
      <dsp:spPr bwMode="white">
        <a:xfrm>
          <a:off x="8745760" y="2040608"/>
          <a:ext cx="2557240" cy="2854800"/>
        </a:xfrm>
        <a:prstGeom prst="rect">
          <a:avLst/>
        </a:prstGeom>
      </dsp:spPr>
      <dsp:style>
        <a:lnRef idx="2">
          <a:schemeClr val="accent3">
            <a:tint val="40000"/>
            <a:alpha val="90000"/>
            <a:hueOff val="10740000"/>
            <a:satOff val="-14117"/>
            <a:lumOff val="-783"/>
            <a:alpha val="90196"/>
          </a:schemeClr>
        </a:lnRef>
        <a:fillRef idx="1">
          <a:schemeClr val="accent3">
            <a:tint val="40000"/>
            <a:alpha val="90000"/>
            <a:hueOff val="10740000"/>
            <a:satOff val="-14117"/>
            <a:lumOff val="-783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P</a:t>
          </a:r>
          <a:r>
            <a:rPr sz="2400" spc="-1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aid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Z</a:t>
          </a:r>
          <a:r>
            <a:rPr sz="2400" spc="-5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ero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a</a:t>
          </a:r>
          <a:r>
            <a:rPr sz="2400" spc="-25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mount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o</a:t>
          </a:r>
          <a:r>
            <a:rPr sz="2400" spc="-2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n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d</a:t>
          </a:r>
          <a:r>
            <a:rPr sz="2400" spc="-3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ue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C</a:t>
          </a:r>
          <a:r>
            <a:rPr sz="2400" spc="-4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entre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m</a:t>
          </a:r>
          <a:r>
            <a:rPr sz="2400" spc="-4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eeting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 </a:t>
          </a:r>
          <a:r>
            <a:rPr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d</a:t>
          </a:r>
          <a:r>
            <a:rPr sz="2400" spc="-2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ay</a:t>
          </a:r>
          <a:r>
            <a:rPr sz="2200" spc="-20" dirty="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.</a:t>
          </a:r>
          <a:endParaRPr sz="2200" spc="-20" dirty="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>
        <a:off x="8745760" y="2040608"/>
        <a:ext cx="2557240" cy="2854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1303000" cy="5913120"/>
        <a:chOff x="0" y="0"/>
        <a:chExt cx="11303000" cy="5913120"/>
      </a:xfrm>
    </dsp:grpSpPr>
    <dsp:sp modelId="{5D9704F8-5A95-419F-B794-1E2F82666BDB}">
      <dsp:nvSpPr>
        <dsp:cNvPr id="3" name="Rectangles 2"/>
        <dsp:cNvSpPr/>
      </dsp:nvSpPr>
      <dsp:spPr bwMode="white">
        <a:xfrm>
          <a:off x="0" y="1017712"/>
          <a:ext cx="2557240" cy="1022896"/>
        </a:xfrm>
        <a:prstGeom prst="rect">
          <a:avLst/>
        </a:prstGeom>
      </dsp:spPr>
      <dsp:style>
        <a:lnRef idx="2">
          <a:schemeClr val="accent2">
            <a:hueOff val="0"/>
            <a:satOff val="0"/>
            <a:lumOff val="0"/>
            <a:alpha val="100000"/>
          </a:schemeClr>
        </a:lnRef>
        <a:fillRef idx="1">
          <a:schemeClr val="accent2"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800" b="1">
              <a:latin typeface="Calibri" panose="020F0502020204030204" charset="0"/>
              <a:cs typeface="Calibri" panose="020F0502020204030204" charset="0"/>
            </a:rPr>
            <a:t>S</a:t>
          </a:r>
          <a:r>
            <a:rPr lang="en-IN" altLang="en-US" sz="2800" b="1">
              <a:latin typeface="Calibri" panose="020F0502020204030204" charset="0"/>
              <a:cs typeface="Calibri" panose="020F0502020204030204" charset="0"/>
            </a:rPr>
            <a:t>tuck  Client</a:t>
          </a:r>
          <a:endParaRPr lang="en-IN" altLang="en-US" sz="2800" b="1">
            <a:latin typeface="Calibri" panose="020F0502020204030204" charset="0"/>
            <a:cs typeface="Calibri" panose="020F0502020204030204" charset="0"/>
          </a:endParaRPr>
        </a:p>
      </dsp:txBody>
      <dsp:txXfrm>
        <a:off x="0" y="1017712"/>
        <a:ext cx="2557240" cy="1022896"/>
      </dsp:txXfrm>
    </dsp:sp>
    <dsp:sp modelId="{C0A6D3D8-DBC2-45B6-8DEF-789A72552BB4}">
      <dsp:nvSpPr>
        <dsp:cNvPr id="4" name="Rectangles 3"/>
        <dsp:cNvSpPr/>
      </dsp:nvSpPr>
      <dsp:spPr bwMode="white">
        <a:xfrm>
          <a:off x="0" y="2040608"/>
          <a:ext cx="2557240" cy="2854800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0"/>
            <a:satOff val="0"/>
            <a:lumOff val="0"/>
            <a:alpha val="90196"/>
          </a:schemeClr>
        </a:lnRef>
        <a:fillRef idx="1">
          <a:schemeClr val="accent2">
            <a:tint val="40000"/>
            <a:alpha val="90000"/>
            <a:hueOff val="0"/>
            <a:satOff val="0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altLang="en-US"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</a:rPr>
            <a:t>OD Clients who haven’t made any payment in the past six month.</a:t>
          </a:r>
          <a:endParaRPr lang="en-IN" altLang="en-US" sz="240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>
        <a:off x="0" y="2040608"/>
        <a:ext cx="2557240" cy="2854800"/>
      </dsp:txXfrm>
    </dsp:sp>
    <dsp:sp modelId="{BF7AE21A-53DC-425E-A637-107E5B798968}">
      <dsp:nvSpPr>
        <dsp:cNvPr id="5" name="Rectangles 4"/>
        <dsp:cNvSpPr/>
      </dsp:nvSpPr>
      <dsp:spPr bwMode="white">
        <a:xfrm>
          <a:off x="2915253" y="1017712"/>
          <a:ext cx="2557240" cy="1022896"/>
        </a:xfrm>
        <a:prstGeom prst="rect">
          <a:avLst/>
        </a:prstGeom>
      </dsp:spPr>
      <dsp:style>
        <a:lnRef idx="2">
          <a:schemeClr val="accent2">
            <a:hueOff val="1560000"/>
            <a:satOff val="-1960"/>
            <a:lumOff val="392"/>
            <a:alpha val="100000"/>
          </a:schemeClr>
        </a:lnRef>
        <a:fillRef idx="1">
          <a:schemeClr val="accent2">
            <a:hueOff val="1560000"/>
            <a:satOff val="-1960"/>
            <a:lumOff val="392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spc="-10" dirty="0">
              <a:cs typeface="+mn-lt"/>
              <a:sym typeface="+mn-ea"/>
            </a:rPr>
            <a:t>Stuck Center</a:t>
          </a:r>
          <a:endParaRPr lang="en-IN" sz="2800" b="1" spc="-10" dirty="0">
            <a:cs typeface="+mn-lt"/>
            <a:sym typeface="+mn-ea"/>
          </a:endParaRPr>
        </a:p>
      </dsp:txBody>
      <dsp:txXfrm>
        <a:off x="2915253" y="1017712"/>
        <a:ext cx="2557240" cy="1022896"/>
      </dsp:txXfrm>
    </dsp:sp>
    <dsp:sp modelId="{4A5D8E3D-DA80-4225-9A2A-013D22A5C3E3}">
      <dsp:nvSpPr>
        <dsp:cNvPr id="6" name="Rectangles 5"/>
        <dsp:cNvSpPr/>
      </dsp:nvSpPr>
      <dsp:spPr bwMode="white">
        <a:xfrm>
          <a:off x="2915253" y="2040608"/>
          <a:ext cx="2557240" cy="2854800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1680000"/>
            <a:satOff val="-914"/>
            <a:lumOff val="0"/>
            <a:alpha val="90196"/>
          </a:schemeClr>
        </a:lnRef>
        <a:fillRef idx="1">
          <a:schemeClr val="accent2">
            <a:tint val="40000"/>
            <a:alpha val="90000"/>
            <a:hueOff val="1680000"/>
            <a:satOff val="-914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sz="2400" spc="-10" dirty="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>
        <a:off x="2915253" y="2040608"/>
        <a:ext cx="2557240" cy="2854800"/>
      </dsp:txXfrm>
    </dsp:sp>
    <dsp:sp modelId="{3E0BA246-3456-471B-AD87-1436FD251DD8}">
      <dsp:nvSpPr>
        <dsp:cNvPr id="7" name="Rectangles 6"/>
        <dsp:cNvSpPr/>
      </dsp:nvSpPr>
      <dsp:spPr bwMode="white">
        <a:xfrm>
          <a:off x="5830507" y="1017712"/>
          <a:ext cx="2557240" cy="1022896"/>
        </a:xfrm>
        <a:prstGeom prst="rect">
          <a:avLst/>
        </a:prstGeom>
      </dsp:spPr>
      <dsp:style>
        <a:lnRef idx="2">
          <a:schemeClr val="accent2">
            <a:hueOff val="3120000"/>
            <a:satOff val="-3921"/>
            <a:lumOff val="784"/>
            <a:alpha val="100000"/>
          </a:schemeClr>
        </a:lnRef>
        <a:fillRef idx="1">
          <a:schemeClr val="accent2">
            <a:hueOff val="3120000"/>
            <a:satOff val="-3921"/>
            <a:lumOff val="784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spc="-10" dirty="0">
              <a:cs typeface="+mn-lt"/>
              <a:sym typeface="+mn-ea"/>
            </a:rPr>
            <a:t>Paying Client</a:t>
          </a:r>
          <a:endParaRPr lang="en-US" sz="2800" b="1" spc="-20" dirty="0">
            <a:latin typeface="Calibri" panose="020F0502020204030204" charset="0"/>
            <a:cs typeface="Calibri" panose="020F0502020204030204" charset="0"/>
            <a:sym typeface="+mn-ea"/>
          </a:endParaRPr>
        </a:p>
      </dsp:txBody>
      <dsp:txXfrm>
        <a:off x="5830507" y="1017712"/>
        <a:ext cx="2557240" cy="1022896"/>
      </dsp:txXfrm>
    </dsp:sp>
    <dsp:sp modelId="{33CF15AD-8A19-4E9A-9BED-239A79CAF737}">
      <dsp:nvSpPr>
        <dsp:cNvPr id="8" name="Rectangles 7"/>
        <dsp:cNvSpPr/>
      </dsp:nvSpPr>
      <dsp:spPr bwMode="white">
        <a:xfrm>
          <a:off x="5830507" y="2040608"/>
          <a:ext cx="2557240" cy="2854800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3360000"/>
            <a:satOff val="-1829"/>
            <a:lumOff val="0"/>
            <a:alpha val="90196"/>
          </a:schemeClr>
        </a:lnRef>
        <a:fillRef idx="1">
          <a:schemeClr val="accent2">
            <a:tint val="40000"/>
            <a:alpha val="90000"/>
            <a:hueOff val="3360000"/>
            <a:satOff val="-1829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128016" tIns="128016" rIns="170688" bIns="192024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400">
              <a:solidFill>
                <a:schemeClr val="dk1"/>
              </a:solidFill>
              <a:sym typeface="+mn-ea"/>
            </a:rPr>
            <a:t>O</a:t>
          </a:r>
          <a:r>
            <a:rPr lang="en-IN" altLang="en-US" sz="24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D Clients who haven made  payment in the past 3 month</a:t>
          </a:r>
          <a:endParaRPr lang="en-IN" altLang="en-US" sz="240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>
        <a:off x="5830507" y="2040608"/>
        <a:ext cx="2557240" cy="2854800"/>
      </dsp:txXfrm>
    </dsp:sp>
    <dsp:sp modelId="{FC453BFD-315B-4968-86FA-B7D3125F3320}">
      <dsp:nvSpPr>
        <dsp:cNvPr id="9" name="Rectangles 8"/>
        <dsp:cNvSpPr/>
      </dsp:nvSpPr>
      <dsp:spPr bwMode="white">
        <a:xfrm>
          <a:off x="8745760" y="1017712"/>
          <a:ext cx="2557240" cy="1022896"/>
        </a:xfrm>
        <a:prstGeom prst="rect">
          <a:avLst/>
        </a:prstGeom>
      </dsp:spPr>
      <dsp:style>
        <a:lnRef idx="2">
          <a:schemeClr val="accent2">
            <a:hueOff val="4680000"/>
            <a:satOff val="-5881"/>
            <a:lumOff val="1176"/>
            <a:alpha val="100000"/>
          </a:schemeClr>
        </a:lnRef>
        <a:fillRef idx="1">
          <a:schemeClr val="accent2">
            <a:hueOff val="4680000"/>
            <a:satOff val="-5881"/>
            <a:lumOff val="117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99136" tIns="113792" rIns="199136" bIns="113792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IN" sz="2800" b="1" spc="-10" dirty="0">
              <a:cs typeface="+mn-lt"/>
              <a:sym typeface="+mn-ea"/>
            </a:rPr>
            <a:t>Non-</a:t>
          </a:r>
          <a:r>
            <a:rPr lang="en-IN" sz="2800" b="1" spc="-10" dirty="0">
              <a:cs typeface="+mn-lt"/>
              <a:sym typeface="+mn-ea"/>
            </a:rPr>
            <a:t>Paying Client</a:t>
          </a:r>
          <a:endParaRPr lang="en-US" sz="2800" b="1" spc="-10" dirty="0">
            <a:latin typeface="Calibri" panose="020F0502020204030204" charset="0"/>
            <a:cs typeface="Calibri" panose="020F0502020204030204" charset="0"/>
            <a:sym typeface="+mn-ea"/>
          </a:endParaRPr>
        </a:p>
      </dsp:txBody>
      <dsp:txXfrm>
        <a:off x="8745760" y="1017712"/>
        <a:ext cx="2557240" cy="1022896"/>
      </dsp:txXfrm>
    </dsp:sp>
    <dsp:sp modelId="{B357C82A-FE93-416B-AFBF-A74F9E99C4E4}">
      <dsp:nvSpPr>
        <dsp:cNvPr id="10" name="Rectangles 9"/>
        <dsp:cNvSpPr/>
      </dsp:nvSpPr>
      <dsp:spPr bwMode="white">
        <a:xfrm>
          <a:off x="8745760" y="2040608"/>
          <a:ext cx="2557240" cy="2854800"/>
        </a:xfrm>
        <a:prstGeom prst="rect">
          <a:avLst/>
        </a:prstGeom>
      </dsp:spPr>
      <dsp:style>
        <a:lnRef idx="2">
          <a:schemeClr val="accent2">
            <a:tint val="40000"/>
            <a:alpha val="90000"/>
            <a:hueOff val="5040000"/>
            <a:satOff val="-2744"/>
            <a:lumOff val="0"/>
            <a:alpha val="90196"/>
          </a:schemeClr>
        </a:lnRef>
        <a:fillRef idx="1">
          <a:schemeClr val="accent2">
            <a:tint val="40000"/>
            <a:alpha val="90000"/>
            <a:hueOff val="5040000"/>
            <a:satOff val="-2744"/>
            <a:lumOff val="0"/>
            <a:alpha val="90196"/>
          </a:schemeClr>
        </a:fillRef>
        <a:effectRef idx="0">
          <a:scrgbClr r="0" g="0" b="0"/>
        </a:effectRef>
        <a:fontRef idx="minor"/>
      </dsp:style>
      <dsp:txBody>
        <a:bodyPr vert="horz" wrap="square" lIns="117348" tIns="117348" rIns="156464" bIns="176022" anchor="t"/>
        <a:lstStyle>
          <a:lvl1pPr algn="l">
            <a:defRPr sz="6500"/>
          </a:lvl1pPr>
          <a:lvl2pPr marL="285750" indent="-285750" algn="l">
            <a:defRPr sz="6500"/>
          </a:lvl2pPr>
          <a:lvl3pPr marL="571500" indent="-285750" algn="l">
            <a:defRPr sz="6500"/>
          </a:lvl3pPr>
          <a:lvl4pPr marL="857250" indent="-285750" algn="l">
            <a:defRPr sz="6500"/>
          </a:lvl4pPr>
          <a:lvl5pPr marL="1143000" indent="-285750" algn="l">
            <a:defRPr sz="6500"/>
          </a:lvl5pPr>
          <a:lvl6pPr marL="1428750" indent="-285750" algn="l">
            <a:defRPr sz="6500"/>
          </a:lvl6pPr>
          <a:lvl7pPr marL="1714500" indent="-285750" algn="l">
            <a:defRPr sz="6500"/>
          </a:lvl7pPr>
          <a:lvl8pPr marL="2000250" indent="-285750" algn="l">
            <a:defRPr sz="6500"/>
          </a:lvl8pPr>
          <a:lvl9pPr marL="2286000" indent="-285750" algn="l">
            <a:defRPr sz="6500"/>
          </a:lvl9pPr>
        </a:lstStyle>
        <a:p>
          <a:pPr marL="228600" lvl="1" indent="-2286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sz="2200">
              <a:solidFill>
                <a:schemeClr val="dk1"/>
              </a:solidFill>
              <a:sym typeface="+mn-ea"/>
            </a:rPr>
            <a:t>O</a:t>
          </a:r>
          <a:r>
            <a:rPr lang="en-IN" altLang="en-US" sz="2200">
              <a:solidFill>
                <a:schemeClr val="dk1"/>
              </a:solidFill>
              <a:latin typeface="Calibri" panose="020F0502020204030204" charset="0"/>
              <a:cs typeface="Calibri" panose="020F0502020204030204" charset="0"/>
              <a:sym typeface="+mn-ea"/>
            </a:rPr>
            <a:t>D Clients who haven’t made any payment in the past 3 month.</a:t>
          </a:r>
          <a:endParaRPr lang="en-IN" altLang="en-US" sz="2200">
            <a:solidFill>
              <a:schemeClr val="dk1"/>
            </a:solidFill>
            <a:latin typeface="Calibri" panose="020F0502020204030204" charset="0"/>
            <a:cs typeface="Calibri" panose="020F0502020204030204" charset="0"/>
          </a:endParaRPr>
        </a:p>
      </dsp:txBody>
      <dsp:txXfrm>
        <a:off x="8745760" y="2040608"/>
        <a:ext cx="2557240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339840" cy="4129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8287174" y="0"/>
            <a:ext cx="6339840" cy="4129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46320" y="1028700"/>
            <a:ext cx="4937760" cy="277749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463040" y="3960495"/>
            <a:ext cx="11704320" cy="324040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816692"/>
            <a:ext cx="6339840" cy="4129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8287174" y="7816692"/>
            <a:ext cx="6339840" cy="41290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74E84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74E84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74E84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853179" cy="8229600"/>
          </a:xfrm>
          <a:custGeom>
            <a:avLst/>
            <a:gdLst/>
            <a:ahLst/>
            <a:cxnLst/>
            <a:rect l="l" t="t" r="r" b="b"/>
            <a:pathLst>
              <a:path w="3853179" h="8229600">
                <a:moveTo>
                  <a:pt x="3852672" y="0"/>
                </a:moveTo>
                <a:lnTo>
                  <a:pt x="0" y="0"/>
                </a:lnTo>
                <a:lnTo>
                  <a:pt x="0" y="8229597"/>
                </a:lnTo>
                <a:lnTo>
                  <a:pt x="1892808" y="8229597"/>
                </a:lnTo>
                <a:lnTo>
                  <a:pt x="3852672" y="0"/>
                </a:lnTo>
                <a:close/>
              </a:path>
            </a:pathLst>
          </a:custGeom>
          <a:solidFill>
            <a:srgbClr val="EE894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" y="3916679"/>
            <a:ext cx="13411200" cy="338937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3794759"/>
            <a:ext cx="13411200" cy="3389629"/>
          </a:xfrm>
          <a:custGeom>
            <a:avLst/>
            <a:gdLst/>
            <a:ahLst/>
            <a:cxnLst/>
            <a:rect l="l" t="t" r="r" b="b"/>
            <a:pathLst>
              <a:path w="13411200" h="3389629">
                <a:moveTo>
                  <a:pt x="13411200" y="0"/>
                </a:moveTo>
                <a:lnTo>
                  <a:pt x="5" y="0"/>
                </a:lnTo>
                <a:lnTo>
                  <a:pt x="0" y="3389096"/>
                </a:lnTo>
                <a:lnTo>
                  <a:pt x="12604115" y="3389096"/>
                </a:lnTo>
                <a:lnTo>
                  <a:pt x="13411200" y="0"/>
                </a:lnTo>
                <a:close/>
              </a:path>
            </a:pathLst>
          </a:custGeom>
          <a:solidFill>
            <a:srgbClr val="374E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374E84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853179" cy="8229600"/>
          </a:xfrm>
          <a:custGeom>
            <a:avLst/>
            <a:gdLst/>
            <a:ahLst/>
            <a:cxnLst/>
            <a:rect l="l" t="t" r="r" b="b"/>
            <a:pathLst>
              <a:path w="3853179" h="8229600">
                <a:moveTo>
                  <a:pt x="3852672" y="0"/>
                </a:moveTo>
                <a:lnTo>
                  <a:pt x="0" y="0"/>
                </a:lnTo>
                <a:lnTo>
                  <a:pt x="0" y="8229597"/>
                </a:lnTo>
                <a:lnTo>
                  <a:pt x="1892808" y="8229597"/>
                </a:lnTo>
                <a:lnTo>
                  <a:pt x="3852672" y="0"/>
                </a:lnTo>
                <a:close/>
              </a:path>
            </a:pathLst>
          </a:custGeom>
          <a:solidFill>
            <a:srgbClr val="EE894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" y="3916679"/>
            <a:ext cx="13411200" cy="3389376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3794759"/>
            <a:ext cx="13411200" cy="3389629"/>
          </a:xfrm>
          <a:custGeom>
            <a:avLst/>
            <a:gdLst/>
            <a:ahLst/>
            <a:cxnLst/>
            <a:rect l="l" t="t" r="r" b="b"/>
            <a:pathLst>
              <a:path w="13411200" h="3389629">
                <a:moveTo>
                  <a:pt x="13411200" y="0"/>
                </a:moveTo>
                <a:lnTo>
                  <a:pt x="5" y="0"/>
                </a:lnTo>
                <a:lnTo>
                  <a:pt x="0" y="3389096"/>
                </a:lnTo>
                <a:lnTo>
                  <a:pt x="12604115" y="3389096"/>
                </a:lnTo>
                <a:lnTo>
                  <a:pt x="13411200" y="0"/>
                </a:lnTo>
                <a:close/>
              </a:path>
            </a:pathLst>
          </a:custGeom>
          <a:solidFill>
            <a:srgbClr val="374E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612367" y="3971544"/>
            <a:ext cx="1017905" cy="4257675"/>
          </a:xfrm>
          <a:custGeom>
            <a:avLst/>
            <a:gdLst/>
            <a:ahLst/>
            <a:cxnLst/>
            <a:rect l="l" t="t" r="r" b="b"/>
            <a:pathLst>
              <a:path w="1017905" h="4257675">
                <a:moveTo>
                  <a:pt x="1017905" y="0"/>
                </a:moveTo>
                <a:lnTo>
                  <a:pt x="0" y="4257541"/>
                </a:lnTo>
                <a:lnTo>
                  <a:pt x="1017905" y="4257541"/>
                </a:lnTo>
                <a:lnTo>
                  <a:pt x="1017905" y="0"/>
                </a:lnTo>
                <a:close/>
              </a:path>
            </a:pathLst>
          </a:custGeom>
          <a:solidFill>
            <a:srgbClr val="374E84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464" y="413765"/>
            <a:ext cx="10932591" cy="6513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374E84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8940" y="1314703"/>
            <a:ext cx="13381355" cy="2538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2.xml"/><Relationship Id="rId1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2.xml"/><Relationship Id="rId1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7600" y="4419600"/>
            <a:ext cx="6304280" cy="111950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 indent="938530">
              <a:lnSpc>
                <a:spcPct val="101000"/>
              </a:lnSpc>
              <a:spcBef>
                <a:spcPts val="5"/>
              </a:spcBef>
            </a:pPr>
            <a:r>
              <a:rPr lang="en-IN" altLang="" sz="7200" b="1" spc="-20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Glossaries</a:t>
            </a:r>
            <a:endParaRPr lang="en-IN" altLang="" sz="7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61121" y="6875780"/>
            <a:ext cx="44900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20495" algn="l"/>
                <a:tab pos="1920875" algn="l"/>
                <a:tab pos="3086735" algn="l"/>
              </a:tabLst>
            </a:pPr>
            <a:r>
              <a:rPr sz="1800" b="1" spc="9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Presented</a:t>
            </a:r>
            <a:r>
              <a:rPr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800" b="1" spc="-2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by:</a:t>
            </a:r>
            <a:r>
              <a:rPr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800" b="1" spc="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Training</a:t>
            </a:r>
            <a:r>
              <a:rPr sz="1800" b="1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800" b="1" spc="75" dirty="0">
                <a:solidFill>
                  <a:srgbClr val="FFFFFF"/>
                </a:solidFill>
                <a:latin typeface="Arial" panose="020B0604020202020204"/>
                <a:cs typeface="Arial" panose="020B0604020202020204"/>
              </a:rPr>
              <a:t>Department</a:t>
            </a:r>
            <a:endParaRPr sz="1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45008" y="149352"/>
            <a:ext cx="13350240" cy="1527175"/>
            <a:chOff x="445008" y="149352"/>
            <a:chExt cx="13350240" cy="1527175"/>
          </a:xfrm>
        </p:grpSpPr>
        <p:sp>
          <p:nvSpPr>
            <p:cNvPr id="5" name="object 5"/>
            <p:cNvSpPr/>
            <p:nvPr/>
          </p:nvSpPr>
          <p:spPr>
            <a:xfrm>
              <a:off x="11725656" y="496823"/>
              <a:ext cx="594360" cy="868680"/>
            </a:xfrm>
            <a:custGeom>
              <a:avLst/>
              <a:gdLst/>
              <a:ahLst/>
              <a:cxnLst/>
              <a:rect l="l" t="t" r="r" b="b"/>
              <a:pathLst>
                <a:path w="594359" h="868680">
                  <a:moveTo>
                    <a:pt x="418846" y="713105"/>
                  </a:moveTo>
                  <a:lnTo>
                    <a:pt x="412877" y="672338"/>
                  </a:lnTo>
                  <a:lnTo>
                    <a:pt x="395351" y="641985"/>
                  </a:lnTo>
                  <a:lnTo>
                    <a:pt x="366395" y="622808"/>
                  </a:lnTo>
                  <a:lnTo>
                    <a:pt x="326517" y="616077"/>
                  </a:lnTo>
                  <a:lnTo>
                    <a:pt x="303530" y="618617"/>
                  </a:lnTo>
                  <a:lnTo>
                    <a:pt x="282194" y="626491"/>
                  </a:lnTo>
                  <a:lnTo>
                    <a:pt x="260096" y="640334"/>
                  </a:lnTo>
                  <a:lnTo>
                    <a:pt x="235458" y="660654"/>
                  </a:lnTo>
                  <a:lnTo>
                    <a:pt x="233045" y="657352"/>
                  </a:lnTo>
                  <a:lnTo>
                    <a:pt x="200787" y="626618"/>
                  </a:lnTo>
                  <a:lnTo>
                    <a:pt x="154305" y="616077"/>
                  </a:lnTo>
                  <a:lnTo>
                    <a:pt x="132715" y="618236"/>
                  </a:lnTo>
                  <a:lnTo>
                    <a:pt x="112522" y="624967"/>
                  </a:lnTo>
                  <a:lnTo>
                    <a:pt x="92710" y="636651"/>
                  </a:lnTo>
                  <a:lnTo>
                    <a:pt x="71755" y="653542"/>
                  </a:lnTo>
                  <a:lnTo>
                    <a:pt x="71755" y="621030"/>
                  </a:lnTo>
                  <a:lnTo>
                    <a:pt x="17653" y="621030"/>
                  </a:lnTo>
                  <a:lnTo>
                    <a:pt x="17653" y="868426"/>
                  </a:lnTo>
                  <a:lnTo>
                    <a:pt x="71755" y="868426"/>
                  </a:lnTo>
                  <a:lnTo>
                    <a:pt x="71755" y="688848"/>
                  </a:lnTo>
                  <a:lnTo>
                    <a:pt x="85979" y="675767"/>
                  </a:lnTo>
                  <a:lnTo>
                    <a:pt x="101473" y="665861"/>
                  </a:lnTo>
                  <a:lnTo>
                    <a:pt x="118237" y="659638"/>
                  </a:lnTo>
                  <a:lnTo>
                    <a:pt x="137033" y="657352"/>
                  </a:lnTo>
                  <a:lnTo>
                    <a:pt x="161036" y="661035"/>
                  </a:lnTo>
                  <a:lnTo>
                    <a:pt x="177927" y="672465"/>
                  </a:lnTo>
                  <a:lnTo>
                    <a:pt x="187833" y="692023"/>
                  </a:lnTo>
                  <a:lnTo>
                    <a:pt x="191135" y="720344"/>
                  </a:lnTo>
                  <a:lnTo>
                    <a:pt x="191135" y="868426"/>
                  </a:lnTo>
                  <a:lnTo>
                    <a:pt x="245364" y="868426"/>
                  </a:lnTo>
                  <a:lnTo>
                    <a:pt x="245364" y="688848"/>
                  </a:lnTo>
                  <a:lnTo>
                    <a:pt x="259969" y="675640"/>
                  </a:lnTo>
                  <a:lnTo>
                    <a:pt x="275971" y="665988"/>
                  </a:lnTo>
                  <a:lnTo>
                    <a:pt x="292100" y="660019"/>
                  </a:lnTo>
                  <a:lnTo>
                    <a:pt x="307467" y="657987"/>
                  </a:lnTo>
                  <a:lnTo>
                    <a:pt x="331724" y="661797"/>
                  </a:lnTo>
                  <a:lnTo>
                    <a:pt x="349758" y="673227"/>
                  </a:lnTo>
                  <a:lnTo>
                    <a:pt x="360807" y="691642"/>
                  </a:lnTo>
                  <a:lnTo>
                    <a:pt x="364617" y="716915"/>
                  </a:lnTo>
                  <a:lnTo>
                    <a:pt x="364617" y="868426"/>
                  </a:lnTo>
                  <a:lnTo>
                    <a:pt x="418846" y="868426"/>
                  </a:lnTo>
                  <a:lnTo>
                    <a:pt x="418846" y="713105"/>
                  </a:lnTo>
                  <a:close/>
                </a:path>
                <a:path w="594359" h="868680">
                  <a:moveTo>
                    <a:pt x="439039" y="0"/>
                  </a:moveTo>
                  <a:lnTo>
                    <a:pt x="382651" y="0"/>
                  </a:lnTo>
                  <a:lnTo>
                    <a:pt x="219456" y="189738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451612"/>
                  </a:lnTo>
                  <a:lnTo>
                    <a:pt x="62992" y="451612"/>
                  </a:lnTo>
                  <a:lnTo>
                    <a:pt x="62992" y="99060"/>
                  </a:lnTo>
                  <a:lnTo>
                    <a:pt x="219456" y="281051"/>
                  </a:lnTo>
                  <a:lnTo>
                    <a:pt x="376047" y="99060"/>
                  </a:lnTo>
                  <a:lnTo>
                    <a:pt x="376047" y="451612"/>
                  </a:lnTo>
                  <a:lnTo>
                    <a:pt x="439039" y="451612"/>
                  </a:lnTo>
                  <a:lnTo>
                    <a:pt x="439039" y="0"/>
                  </a:lnTo>
                  <a:close/>
                </a:path>
                <a:path w="594359" h="868680">
                  <a:moveTo>
                    <a:pt x="560857" y="621017"/>
                  </a:moveTo>
                  <a:lnTo>
                    <a:pt x="506095" y="621017"/>
                  </a:lnTo>
                  <a:lnTo>
                    <a:pt x="506095" y="868426"/>
                  </a:lnTo>
                  <a:lnTo>
                    <a:pt x="560857" y="868426"/>
                  </a:lnTo>
                  <a:lnTo>
                    <a:pt x="560857" y="621017"/>
                  </a:lnTo>
                  <a:close/>
                </a:path>
                <a:path w="594359" h="868680">
                  <a:moveTo>
                    <a:pt x="565785" y="545592"/>
                  </a:moveTo>
                  <a:lnTo>
                    <a:pt x="563118" y="534670"/>
                  </a:lnTo>
                  <a:lnTo>
                    <a:pt x="556133" y="525526"/>
                  </a:lnTo>
                  <a:lnTo>
                    <a:pt x="545719" y="519176"/>
                  </a:lnTo>
                  <a:lnTo>
                    <a:pt x="533146" y="516890"/>
                  </a:lnTo>
                  <a:lnTo>
                    <a:pt x="520319" y="519430"/>
                  </a:lnTo>
                  <a:lnTo>
                    <a:pt x="510286" y="525907"/>
                  </a:lnTo>
                  <a:lnTo>
                    <a:pt x="503428" y="535051"/>
                  </a:lnTo>
                  <a:lnTo>
                    <a:pt x="501142" y="545592"/>
                  </a:lnTo>
                  <a:lnTo>
                    <a:pt x="503428" y="556260"/>
                  </a:lnTo>
                  <a:lnTo>
                    <a:pt x="510286" y="565531"/>
                  </a:lnTo>
                  <a:lnTo>
                    <a:pt x="520319" y="572135"/>
                  </a:lnTo>
                  <a:lnTo>
                    <a:pt x="533146" y="574675"/>
                  </a:lnTo>
                  <a:lnTo>
                    <a:pt x="545719" y="572389"/>
                  </a:lnTo>
                  <a:lnTo>
                    <a:pt x="556133" y="565912"/>
                  </a:lnTo>
                  <a:lnTo>
                    <a:pt x="563118" y="556768"/>
                  </a:lnTo>
                  <a:lnTo>
                    <a:pt x="565785" y="545592"/>
                  </a:lnTo>
                  <a:close/>
                </a:path>
                <a:path w="594359" h="868680">
                  <a:moveTo>
                    <a:pt x="593979" y="153403"/>
                  </a:moveTo>
                  <a:lnTo>
                    <a:pt x="534289" y="153403"/>
                  </a:lnTo>
                  <a:lnTo>
                    <a:pt x="534289" y="451612"/>
                  </a:lnTo>
                  <a:lnTo>
                    <a:pt x="593979" y="451612"/>
                  </a:lnTo>
                  <a:lnTo>
                    <a:pt x="593979" y="153403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256008" y="527304"/>
              <a:ext cx="67054" cy="701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2356592" y="496798"/>
              <a:ext cx="457200" cy="874394"/>
            </a:xfrm>
            <a:custGeom>
              <a:avLst/>
              <a:gdLst/>
              <a:ahLst/>
              <a:cxnLst/>
              <a:rect l="l" t="t" r="r" b="b"/>
              <a:pathLst>
                <a:path w="457200" h="874394">
                  <a:moveTo>
                    <a:pt x="222504" y="811301"/>
                  </a:moveTo>
                  <a:lnTo>
                    <a:pt x="206121" y="817651"/>
                  </a:lnTo>
                  <a:lnTo>
                    <a:pt x="188976" y="822858"/>
                  </a:lnTo>
                  <a:lnTo>
                    <a:pt x="170561" y="826541"/>
                  </a:lnTo>
                  <a:lnTo>
                    <a:pt x="149987" y="827938"/>
                  </a:lnTo>
                  <a:lnTo>
                    <a:pt x="104140" y="819937"/>
                  </a:lnTo>
                  <a:lnTo>
                    <a:pt x="75311" y="799744"/>
                  </a:lnTo>
                  <a:lnTo>
                    <a:pt x="60325" y="772947"/>
                  </a:lnTo>
                  <a:lnTo>
                    <a:pt x="56007" y="745134"/>
                  </a:lnTo>
                  <a:lnTo>
                    <a:pt x="61341" y="715035"/>
                  </a:lnTo>
                  <a:lnTo>
                    <a:pt x="77216" y="688746"/>
                  </a:lnTo>
                  <a:lnTo>
                    <a:pt x="103378" y="670204"/>
                  </a:lnTo>
                  <a:lnTo>
                    <a:pt x="139573" y="663092"/>
                  </a:lnTo>
                  <a:lnTo>
                    <a:pt x="158877" y="664362"/>
                  </a:lnTo>
                  <a:lnTo>
                    <a:pt x="177546" y="668553"/>
                  </a:lnTo>
                  <a:lnTo>
                    <a:pt x="196469" y="675665"/>
                  </a:lnTo>
                  <a:lnTo>
                    <a:pt x="216408" y="686333"/>
                  </a:lnTo>
                  <a:lnTo>
                    <a:pt x="216408" y="663092"/>
                  </a:lnTo>
                  <a:lnTo>
                    <a:pt x="194310" y="625881"/>
                  </a:lnTo>
                  <a:lnTo>
                    <a:pt x="155194" y="617626"/>
                  </a:lnTo>
                  <a:lnTo>
                    <a:pt x="135763" y="616737"/>
                  </a:lnTo>
                  <a:lnTo>
                    <a:pt x="91440" y="622706"/>
                  </a:lnTo>
                  <a:lnTo>
                    <a:pt x="54102" y="639724"/>
                  </a:lnTo>
                  <a:lnTo>
                    <a:pt x="25146" y="667029"/>
                  </a:lnTo>
                  <a:lnTo>
                    <a:pt x="6477" y="703859"/>
                  </a:lnTo>
                  <a:lnTo>
                    <a:pt x="0" y="748944"/>
                  </a:lnTo>
                  <a:lnTo>
                    <a:pt x="4572" y="782599"/>
                  </a:lnTo>
                  <a:lnTo>
                    <a:pt x="19304" y="816127"/>
                  </a:lnTo>
                  <a:lnTo>
                    <a:pt x="46101" y="845591"/>
                  </a:lnTo>
                  <a:lnTo>
                    <a:pt x="86360" y="866292"/>
                  </a:lnTo>
                  <a:lnTo>
                    <a:pt x="142113" y="874166"/>
                  </a:lnTo>
                  <a:lnTo>
                    <a:pt x="162306" y="873277"/>
                  </a:lnTo>
                  <a:lnTo>
                    <a:pt x="182499" y="870610"/>
                  </a:lnTo>
                  <a:lnTo>
                    <a:pt x="202565" y="866038"/>
                  </a:lnTo>
                  <a:lnTo>
                    <a:pt x="222504" y="859942"/>
                  </a:lnTo>
                  <a:lnTo>
                    <a:pt x="222504" y="811301"/>
                  </a:lnTo>
                  <a:close/>
                </a:path>
                <a:path w="457200" h="874394">
                  <a:moveTo>
                    <a:pt x="311404" y="25"/>
                  </a:moveTo>
                  <a:lnTo>
                    <a:pt x="251841" y="25"/>
                  </a:lnTo>
                  <a:lnTo>
                    <a:pt x="251841" y="170205"/>
                  </a:lnTo>
                  <a:lnTo>
                    <a:pt x="251841" y="217830"/>
                  </a:lnTo>
                  <a:lnTo>
                    <a:pt x="251841" y="385597"/>
                  </a:lnTo>
                  <a:lnTo>
                    <a:pt x="244602" y="390550"/>
                  </a:lnTo>
                  <a:lnTo>
                    <a:pt x="206248" y="405155"/>
                  </a:lnTo>
                  <a:lnTo>
                    <a:pt x="189484" y="406298"/>
                  </a:lnTo>
                  <a:lnTo>
                    <a:pt x="167894" y="404647"/>
                  </a:lnTo>
                  <a:lnTo>
                    <a:pt x="131826" y="390550"/>
                  </a:lnTo>
                  <a:lnTo>
                    <a:pt x="98044" y="345084"/>
                  </a:lnTo>
                  <a:lnTo>
                    <a:pt x="91440" y="301777"/>
                  </a:lnTo>
                  <a:lnTo>
                    <a:pt x="93091" y="278663"/>
                  </a:lnTo>
                  <a:lnTo>
                    <a:pt x="106172" y="240436"/>
                  </a:lnTo>
                  <a:lnTo>
                    <a:pt x="148717" y="204241"/>
                  </a:lnTo>
                  <a:lnTo>
                    <a:pt x="189484" y="197383"/>
                  </a:lnTo>
                  <a:lnTo>
                    <a:pt x="197993" y="197637"/>
                  </a:lnTo>
                  <a:lnTo>
                    <a:pt x="237236" y="208686"/>
                  </a:lnTo>
                  <a:lnTo>
                    <a:pt x="251841" y="217830"/>
                  </a:lnTo>
                  <a:lnTo>
                    <a:pt x="251841" y="170205"/>
                  </a:lnTo>
                  <a:lnTo>
                    <a:pt x="215900" y="152679"/>
                  </a:lnTo>
                  <a:lnTo>
                    <a:pt x="174371" y="146964"/>
                  </a:lnTo>
                  <a:lnTo>
                    <a:pt x="143510" y="149758"/>
                  </a:lnTo>
                  <a:lnTo>
                    <a:pt x="90678" y="171475"/>
                  </a:lnTo>
                  <a:lnTo>
                    <a:pt x="50800" y="213639"/>
                  </a:lnTo>
                  <a:lnTo>
                    <a:pt x="30353" y="269773"/>
                  </a:lnTo>
                  <a:lnTo>
                    <a:pt x="27813" y="302666"/>
                  </a:lnTo>
                  <a:lnTo>
                    <a:pt x="30353" y="335178"/>
                  </a:lnTo>
                  <a:lnTo>
                    <a:pt x="50800" y="391312"/>
                  </a:lnTo>
                  <a:lnTo>
                    <a:pt x="90678" y="433603"/>
                  </a:lnTo>
                  <a:lnTo>
                    <a:pt x="143510" y="455320"/>
                  </a:lnTo>
                  <a:lnTo>
                    <a:pt x="174371" y="457987"/>
                  </a:lnTo>
                  <a:lnTo>
                    <a:pt x="185674" y="457606"/>
                  </a:lnTo>
                  <a:lnTo>
                    <a:pt x="225806" y="449351"/>
                  </a:lnTo>
                  <a:lnTo>
                    <a:pt x="251841" y="435508"/>
                  </a:lnTo>
                  <a:lnTo>
                    <a:pt x="251841" y="452018"/>
                  </a:lnTo>
                  <a:lnTo>
                    <a:pt x="311404" y="452018"/>
                  </a:lnTo>
                  <a:lnTo>
                    <a:pt x="311404" y="435508"/>
                  </a:lnTo>
                  <a:lnTo>
                    <a:pt x="311404" y="406298"/>
                  </a:lnTo>
                  <a:lnTo>
                    <a:pt x="311404" y="25"/>
                  </a:lnTo>
                  <a:close/>
                </a:path>
                <a:path w="457200" h="874394">
                  <a:moveTo>
                    <a:pt x="456907" y="0"/>
                  </a:moveTo>
                  <a:lnTo>
                    <a:pt x="397256" y="0"/>
                  </a:lnTo>
                  <a:lnTo>
                    <a:pt x="397256" y="452018"/>
                  </a:lnTo>
                  <a:lnTo>
                    <a:pt x="456907" y="452018"/>
                  </a:lnTo>
                  <a:lnTo>
                    <a:pt x="456907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9200" y="1112519"/>
              <a:ext cx="201168" cy="2529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2871704" y="643127"/>
              <a:ext cx="597535" cy="728980"/>
            </a:xfrm>
            <a:custGeom>
              <a:avLst/>
              <a:gdLst/>
              <a:ahLst/>
              <a:cxnLst/>
              <a:rect l="l" t="t" r="r" b="b"/>
              <a:pathLst>
                <a:path w="597534" h="728980">
                  <a:moveTo>
                    <a:pt x="279400" y="246761"/>
                  </a:moveTo>
                  <a:lnTo>
                    <a:pt x="251955" y="263398"/>
                  </a:lnTo>
                  <a:lnTo>
                    <a:pt x="244094" y="263398"/>
                  </a:lnTo>
                  <a:lnTo>
                    <a:pt x="241173" y="261112"/>
                  </a:lnTo>
                  <a:lnTo>
                    <a:pt x="237363" y="252349"/>
                  </a:lnTo>
                  <a:lnTo>
                    <a:pt x="236474" y="244856"/>
                  </a:lnTo>
                  <a:lnTo>
                    <a:pt x="236347" y="105537"/>
                  </a:lnTo>
                  <a:lnTo>
                    <a:pt x="229997" y="58547"/>
                  </a:lnTo>
                  <a:lnTo>
                    <a:pt x="227838" y="54991"/>
                  </a:lnTo>
                  <a:lnTo>
                    <a:pt x="210426" y="25400"/>
                  </a:lnTo>
                  <a:lnTo>
                    <a:pt x="176276" y="6350"/>
                  </a:lnTo>
                  <a:lnTo>
                    <a:pt x="126746" y="0"/>
                  </a:lnTo>
                  <a:lnTo>
                    <a:pt x="110998" y="508"/>
                  </a:lnTo>
                  <a:lnTo>
                    <a:pt x="66294" y="9398"/>
                  </a:lnTo>
                  <a:lnTo>
                    <a:pt x="26924" y="28956"/>
                  </a:lnTo>
                  <a:lnTo>
                    <a:pt x="14986" y="37973"/>
                  </a:lnTo>
                  <a:lnTo>
                    <a:pt x="14986" y="96774"/>
                  </a:lnTo>
                  <a:lnTo>
                    <a:pt x="28321" y="86995"/>
                  </a:lnTo>
                  <a:lnTo>
                    <a:pt x="41529" y="78613"/>
                  </a:lnTo>
                  <a:lnTo>
                    <a:pt x="81153" y="60960"/>
                  </a:lnTo>
                  <a:lnTo>
                    <a:pt x="119380" y="54991"/>
                  </a:lnTo>
                  <a:lnTo>
                    <a:pt x="133350" y="55753"/>
                  </a:lnTo>
                  <a:lnTo>
                    <a:pt x="168275" y="73660"/>
                  </a:lnTo>
                  <a:lnTo>
                    <a:pt x="175628" y="105537"/>
                  </a:lnTo>
                  <a:lnTo>
                    <a:pt x="175501" y="111252"/>
                  </a:lnTo>
                  <a:lnTo>
                    <a:pt x="175006" y="118110"/>
                  </a:lnTo>
                  <a:lnTo>
                    <a:pt x="175006" y="156464"/>
                  </a:lnTo>
                  <a:lnTo>
                    <a:pt x="175006" y="244221"/>
                  </a:lnTo>
                  <a:lnTo>
                    <a:pt x="167640" y="249428"/>
                  </a:lnTo>
                  <a:lnTo>
                    <a:pt x="129921" y="265303"/>
                  </a:lnTo>
                  <a:lnTo>
                    <a:pt x="114173" y="266700"/>
                  </a:lnTo>
                  <a:lnTo>
                    <a:pt x="104140" y="266065"/>
                  </a:lnTo>
                  <a:lnTo>
                    <a:pt x="72136" y="244475"/>
                  </a:lnTo>
                  <a:lnTo>
                    <a:pt x="69215" y="227965"/>
                  </a:lnTo>
                  <a:lnTo>
                    <a:pt x="70612" y="217805"/>
                  </a:lnTo>
                  <a:lnTo>
                    <a:pt x="105791" y="183134"/>
                  </a:lnTo>
                  <a:lnTo>
                    <a:pt x="147307" y="165608"/>
                  </a:lnTo>
                  <a:lnTo>
                    <a:pt x="175006" y="156464"/>
                  </a:lnTo>
                  <a:lnTo>
                    <a:pt x="175006" y="118110"/>
                  </a:lnTo>
                  <a:lnTo>
                    <a:pt x="104140" y="141859"/>
                  </a:lnTo>
                  <a:lnTo>
                    <a:pt x="60960" y="160147"/>
                  </a:lnTo>
                  <a:lnTo>
                    <a:pt x="19558" y="194818"/>
                  </a:lnTo>
                  <a:lnTo>
                    <a:pt x="5715" y="238252"/>
                  </a:lnTo>
                  <a:lnTo>
                    <a:pt x="7239" y="254127"/>
                  </a:lnTo>
                  <a:lnTo>
                    <a:pt x="28448" y="291211"/>
                  </a:lnTo>
                  <a:lnTo>
                    <a:pt x="72136" y="309245"/>
                  </a:lnTo>
                  <a:lnTo>
                    <a:pt x="91059" y="310515"/>
                  </a:lnTo>
                  <a:lnTo>
                    <a:pt x="99631" y="310134"/>
                  </a:lnTo>
                  <a:lnTo>
                    <a:pt x="101981" y="310134"/>
                  </a:lnTo>
                  <a:lnTo>
                    <a:pt x="144653" y="299466"/>
                  </a:lnTo>
                  <a:lnTo>
                    <a:pt x="177165" y="280543"/>
                  </a:lnTo>
                  <a:lnTo>
                    <a:pt x="178054" y="290957"/>
                  </a:lnTo>
                  <a:lnTo>
                    <a:pt x="212725" y="310515"/>
                  </a:lnTo>
                  <a:lnTo>
                    <a:pt x="221488" y="310134"/>
                  </a:lnTo>
                  <a:lnTo>
                    <a:pt x="263144" y="295275"/>
                  </a:lnTo>
                  <a:lnTo>
                    <a:pt x="279400" y="283210"/>
                  </a:lnTo>
                  <a:lnTo>
                    <a:pt x="279400" y="280543"/>
                  </a:lnTo>
                  <a:lnTo>
                    <a:pt x="279400" y="266700"/>
                  </a:lnTo>
                  <a:lnTo>
                    <a:pt x="279400" y="263398"/>
                  </a:lnTo>
                  <a:lnTo>
                    <a:pt x="279400" y="246761"/>
                  </a:lnTo>
                  <a:close/>
                </a:path>
                <a:path w="597534" h="728980">
                  <a:moveTo>
                    <a:pt x="294386" y="599694"/>
                  </a:moveTo>
                  <a:lnTo>
                    <a:pt x="287147" y="556514"/>
                  </a:lnTo>
                  <a:lnTo>
                    <a:pt x="266827" y="520700"/>
                  </a:lnTo>
                  <a:lnTo>
                    <a:pt x="238506" y="496138"/>
                  </a:lnTo>
                  <a:lnTo>
                    <a:pt x="238506" y="598690"/>
                  </a:lnTo>
                  <a:lnTo>
                    <a:pt x="238506" y="601078"/>
                  </a:lnTo>
                  <a:lnTo>
                    <a:pt x="238493" y="599694"/>
                  </a:lnTo>
                  <a:lnTo>
                    <a:pt x="232156" y="633222"/>
                  </a:lnTo>
                  <a:lnTo>
                    <a:pt x="213728" y="660146"/>
                  </a:lnTo>
                  <a:lnTo>
                    <a:pt x="185026" y="677926"/>
                  </a:lnTo>
                  <a:lnTo>
                    <a:pt x="147701" y="684276"/>
                  </a:lnTo>
                  <a:lnTo>
                    <a:pt x="111506" y="678561"/>
                  </a:lnTo>
                  <a:lnTo>
                    <a:pt x="82296" y="661924"/>
                  </a:lnTo>
                  <a:lnTo>
                    <a:pt x="62865" y="635381"/>
                  </a:lnTo>
                  <a:lnTo>
                    <a:pt x="55753" y="599694"/>
                  </a:lnTo>
                  <a:lnTo>
                    <a:pt x="62611" y="564261"/>
                  </a:lnTo>
                  <a:lnTo>
                    <a:pt x="81407" y="537464"/>
                  </a:lnTo>
                  <a:lnTo>
                    <a:pt x="109728" y="520446"/>
                  </a:lnTo>
                  <a:lnTo>
                    <a:pt x="144653" y="514604"/>
                  </a:lnTo>
                  <a:lnTo>
                    <a:pt x="179578" y="519557"/>
                  </a:lnTo>
                  <a:lnTo>
                    <a:pt x="209677" y="534924"/>
                  </a:lnTo>
                  <a:lnTo>
                    <a:pt x="230632" y="561213"/>
                  </a:lnTo>
                  <a:lnTo>
                    <a:pt x="238506" y="598690"/>
                  </a:lnTo>
                  <a:lnTo>
                    <a:pt x="238506" y="496138"/>
                  </a:lnTo>
                  <a:lnTo>
                    <a:pt x="237324" y="495046"/>
                  </a:lnTo>
                  <a:lnTo>
                    <a:pt x="235572" y="493522"/>
                  </a:lnTo>
                  <a:lnTo>
                    <a:pt x="195453" y="476377"/>
                  </a:lnTo>
                  <a:lnTo>
                    <a:pt x="148463" y="470281"/>
                  </a:lnTo>
                  <a:lnTo>
                    <a:pt x="98171" y="476885"/>
                  </a:lnTo>
                  <a:lnTo>
                    <a:pt x="56896" y="495046"/>
                  </a:lnTo>
                  <a:lnTo>
                    <a:pt x="26162" y="523240"/>
                  </a:lnTo>
                  <a:lnTo>
                    <a:pt x="6731" y="559308"/>
                  </a:lnTo>
                  <a:lnTo>
                    <a:pt x="254" y="599694"/>
                  </a:lnTo>
                  <a:lnTo>
                    <a:pt x="127" y="600481"/>
                  </a:lnTo>
                  <a:lnTo>
                    <a:pt x="38" y="601078"/>
                  </a:lnTo>
                  <a:lnTo>
                    <a:pt x="0" y="601345"/>
                  </a:lnTo>
                  <a:lnTo>
                    <a:pt x="5969" y="637413"/>
                  </a:lnTo>
                  <a:lnTo>
                    <a:pt x="23622" y="671703"/>
                  </a:lnTo>
                  <a:lnTo>
                    <a:pt x="52832" y="700913"/>
                  </a:lnTo>
                  <a:lnTo>
                    <a:pt x="93853" y="720979"/>
                  </a:lnTo>
                  <a:lnTo>
                    <a:pt x="146672" y="728472"/>
                  </a:lnTo>
                  <a:lnTo>
                    <a:pt x="187198" y="723900"/>
                  </a:lnTo>
                  <a:lnTo>
                    <a:pt x="226949" y="709295"/>
                  </a:lnTo>
                  <a:lnTo>
                    <a:pt x="260972" y="684276"/>
                  </a:lnTo>
                  <a:lnTo>
                    <a:pt x="285242" y="647954"/>
                  </a:lnTo>
                  <a:lnTo>
                    <a:pt x="294068" y="601345"/>
                  </a:lnTo>
                  <a:lnTo>
                    <a:pt x="294119" y="601078"/>
                  </a:lnTo>
                  <a:lnTo>
                    <a:pt x="294386" y="599694"/>
                  </a:lnTo>
                  <a:close/>
                </a:path>
                <a:path w="597534" h="728980">
                  <a:moveTo>
                    <a:pt x="508127" y="346837"/>
                  </a:moveTo>
                  <a:lnTo>
                    <a:pt x="498475" y="344678"/>
                  </a:lnTo>
                  <a:lnTo>
                    <a:pt x="488569" y="343154"/>
                  </a:lnTo>
                  <a:lnTo>
                    <a:pt x="478282" y="342265"/>
                  </a:lnTo>
                  <a:lnTo>
                    <a:pt x="467614" y="341884"/>
                  </a:lnTo>
                  <a:lnTo>
                    <a:pt x="428244" y="349377"/>
                  </a:lnTo>
                  <a:lnTo>
                    <a:pt x="397624" y="371475"/>
                  </a:lnTo>
                  <a:lnTo>
                    <a:pt x="377698" y="406908"/>
                  </a:lnTo>
                  <a:lnTo>
                    <a:pt x="370713" y="455422"/>
                  </a:lnTo>
                  <a:lnTo>
                    <a:pt x="370713" y="475234"/>
                  </a:lnTo>
                  <a:lnTo>
                    <a:pt x="332105" y="475234"/>
                  </a:lnTo>
                  <a:lnTo>
                    <a:pt x="332105" y="519557"/>
                  </a:lnTo>
                  <a:lnTo>
                    <a:pt x="370713" y="519557"/>
                  </a:lnTo>
                  <a:lnTo>
                    <a:pt x="370713" y="723519"/>
                  </a:lnTo>
                  <a:lnTo>
                    <a:pt x="425958" y="723519"/>
                  </a:lnTo>
                  <a:lnTo>
                    <a:pt x="425958" y="519557"/>
                  </a:lnTo>
                  <a:lnTo>
                    <a:pt x="487299" y="519557"/>
                  </a:lnTo>
                  <a:lnTo>
                    <a:pt x="487299" y="475234"/>
                  </a:lnTo>
                  <a:lnTo>
                    <a:pt x="425958" y="475234"/>
                  </a:lnTo>
                  <a:lnTo>
                    <a:pt x="426072" y="455422"/>
                  </a:lnTo>
                  <a:lnTo>
                    <a:pt x="429133" y="424434"/>
                  </a:lnTo>
                  <a:lnTo>
                    <a:pt x="438531" y="403606"/>
                  </a:lnTo>
                  <a:lnTo>
                    <a:pt x="454152" y="392049"/>
                  </a:lnTo>
                  <a:lnTo>
                    <a:pt x="476250" y="388493"/>
                  </a:lnTo>
                  <a:lnTo>
                    <a:pt x="484505" y="388747"/>
                  </a:lnTo>
                  <a:lnTo>
                    <a:pt x="492887" y="389509"/>
                  </a:lnTo>
                  <a:lnTo>
                    <a:pt x="500761" y="390906"/>
                  </a:lnTo>
                  <a:lnTo>
                    <a:pt x="508127" y="392938"/>
                  </a:lnTo>
                  <a:lnTo>
                    <a:pt x="508127" y="346837"/>
                  </a:lnTo>
                  <a:close/>
                </a:path>
                <a:path w="597534" h="728980">
                  <a:moveTo>
                    <a:pt x="577088" y="106807"/>
                  </a:moveTo>
                  <a:lnTo>
                    <a:pt x="570103" y="62865"/>
                  </a:lnTo>
                  <a:lnTo>
                    <a:pt x="549021" y="29464"/>
                  </a:lnTo>
                  <a:lnTo>
                    <a:pt x="516128" y="8382"/>
                  </a:lnTo>
                  <a:lnTo>
                    <a:pt x="472694" y="1270"/>
                  </a:lnTo>
                  <a:lnTo>
                    <a:pt x="460248" y="1905"/>
                  </a:lnTo>
                  <a:lnTo>
                    <a:pt x="414147" y="16764"/>
                  </a:lnTo>
                  <a:lnTo>
                    <a:pt x="380746" y="42418"/>
                  </a:lnTo>
                  <a:lnTo>
                    <a:pt x="380746" y="5969"/>
                  </a:lnTo>
                  <a:lnTo>
                    <a:pt x="321297" y="5969"/>
                  </a:lnTo>
                  <a:lnTo>
                    <a:pt x="321297" y="305181"/>
                  </a:lnTo>
                  <a:lnTo>
                    <a:pt x="380746" y="305181"/>
                  </a:lnTo>
                  <a:lnTo>
                    <a:pt x="380746" y="89281"/>
                  </a:lnTo>
                  <a:lnTo>
                    <a:pt x="389001" y="79756"/>
                  </a:lnTo>
                  <a:lnTo>
                    <a:pt x="423532" y="56134"/>
                  </a:lnTo>
                  <a:lnTo>
                    <a:pt x="454660" y="51054"/>
                  </a:lnTo>
                  <a:lnTo>
                    <a:pt x="469646" y="52197"/>
                  </a:lnTo>
                  <a:lnTo>
                    <a:pt x="509016" y="78232"/>
                  </a:lnTo>
                  <a:lnTo>
                    <a:pt x="517652" y="122047"/>
                  </a:lnTo>
                  <a:lnTo>
                    <a:pt x="517652" y="305181"/>
                  </a:lnTo>
                  <a:lnTo>
                    <a:pt x="577088" y="305181"/>
                  </a:lnTo>
                  <a:lnTo>
                    <a:pt x="577088" y="106807"/>
                  </a:lnTo>
                  <a:close/>
                </a:path>
                <a:path w="597534" h="728980">
                  <a:moveTo>
                    <a:pt x="592150" y="475246"/>
                  </a:moveTo>
                  <a:lnTo>
                    <a:pt x="537591" y="475246"/>
                  </a:lnTo>
                  <a:lnTo>
                    <a:pt x="537591" y="723519"/>
                  </a:lnTo>
                  <a:lnTo>
                    <a:pt x="592150" y="723519"/>
                  </a:lnTo>
                  <a:lnTo>
                    <a:pt x="592150" y="475246"/>
                  </a:lnTo>
                  <a:close/>
                </a:path>
                <a:path w="597534" h="728980">
                  <a:moveTo>
                    <a:pt x="597027" y="399542"/>
                  </a:moveTo>
                  <a:lnTo>
                    <a:pt x="594487" y="388620"/>
                  </a:lnTo>
                  <a:lnTo>
                    <a:pt x="587502" y="379476"/>
                  </a:lnTo>
                  <a:lnTo>
                    <a:pt x="577088" y="373126"/>
                  </a:lnTo>
                  <a:lnTo>
                    <a:pt x="564515" y="370840"/>
                  </a:lnTo>
                  <a:lnTo>
                    <a:pt x="551688" y="373380"/>
                  </a:lnTo>
                  <a:lnTo>
                    <a:pt x="541782" y="379857"/>
                  </a:lnTo>
                  <a:lnTo>
                    <a:pt x="535051" y="389001"/>
                  </a:lnTo>
                  <a:lnTo>
                    <a:pt x="532765" y="399542"/>
                  </a:lnTo>
                  <a:lnTo>
                    <a:pt x="535051" y="410210"/>
                  </a:lnTo>
                  <a:lnTo>
                    <a:pt x="541782" y="419608"/>
                  </a:lnTo>
                  <a:lnTo>
                    <a:pt x="551688" y="426212"/>
                  </a:lnTo>
                  <a:lnTo>
                    <a:pt x="564515" y="428752"/>
                  </a:lnTo>
                  <a:lnTo>
                    <a:pt x="577088" y="426466"/>
                  </a:lnTo>
                  <a:lnTo>
                    <a:pt x="587502" y="419989"/>
                  </a:lnTo>
                  <a:lnTo>
                    <a:pt x="594487" y="410718"/>
                  </a:lnTo>
                  <a:lnTo>
                    <a:pt x="597027" y="399542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54455" y="1112519"/>
              <a:ext cx="231648" cy="25298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511784" y="496823"/>
              <a:ext cx="283845" cy="457200"/>
            </a:xfrm>
            <a:custGeom>
              <a:avLst/>
              <a:gdLst/>
              <a:ahLst/>
              <a:cxnLst/>
              <a:rect l="l" t="t" r="r" b="b"/>
              <a:pathLst>
                <a:path w="283844" h="457200">
                  <a:moveTo>
                    <a:pt x="283210" y="0"/>
                  </a:moveTo>
                  <a:lnTo>
                    <a:pt x="223774" y="0"/>
                  </a:lnTo>
                  <a:lnTo>
                    <a:pt x="223774" y="169672"/>
                  </a:lnTo>
                  <a:lnTo>
                    <a:pt x="223774" y="217170"/>
                  </a:lnTo>
                  <a:lnTo>
                    <a:pt x="223774" y="384810"/>
                  </a:lnTo>
                  <a:lnTo>
                    <a:pt x="216408" y="389636"/>
                  </a:lnTo>
                  <a:lnTo>
                    <a:pt x="178181" y="404241"/>
                  </a:lnTo>
                  <a:lnTo>
                    <a:pt x="161290" y="405384"/>
                  </a:lnTo>
                  <a:lnTo>
                    <a:pt x="139954" y="403733"/>
                  </a:lnTo>
                  <a:lnTo>
                    <a:pt x="104013" y="389636"/>
                  </a:lnTo>
                  <a:lnTo>
                    <a:pt x="69977" y="344297"/>
                  </a:lnTo>
                  <a:lnTo>
                    <a:pt x="63500" y="300863"/>
                  </a:lnTo>
                  <a:lnTo>
                    <a:pt x="65151" y="277876"/>
                  </a:lnTo>
                  <a:lnTo>
                    <a:pt x="78359" y="239776"/>
                  </a:lnTo>
                  <a:lnTo>
                    <a:pt x="120777" y="203708"/>
                  </a:lnTo>
                  <a:lnTo>
                    <a:pt x="161290" y="196850"/>
                  </a:lnTo>
                  <a:lnTo>
                    <a:pt x="169926" y="197104"/>
                  </a:lnTo>
                  <a:lnTo>
                    <a:pt x="208915" y="208026"/>
                  </a:lnTo>
                  <a:lnTo>
                    <a:pt x="223774" y="217170"/>
                  </a:lnTo>
                  <a:lnTo>
                    <a:pt x="223774" y="169672"/>
                  </a:lnTo>
                  <a:lnTo>
                    <a:pt x="187833" y="152273"/>
                  </a:lnTo>
                  <a:lnTo>
                    <a:pt x="146177" y="146558"/>
                  </a:lnTo>
                  <a:lnTo>
                    <a:pt x="62611" y="170942"/>
                  </a:lnTo>
                  <a:lnTo>
                    <a:pt x="22987" y="212979"/>
                  </a:lnTo>
                  <a:lnTo>
                    <a:pt x="2540" y="268986"/>
                  </a:lnTo>
                  <a:lnTo>
                    <a:pt x="63" y="300863"/>
                  </a:lnTo>
                  <a:lnTo>
                    <a:pt x="0" y="301752"/>
                  </a:lnTo>
                  <a:lnTo>
                    <a:pt x="2540" y="334518"/>
                  </a:lnTo>
                  <a:lnTo>
                    <a:pt x="22987" y="390398"/>
                  </a:lnTo>
                  <a:lnTo>
                    <a:pt x="62611" y="432689"/>
                  </a:lnTo>
                  <a:lnTo>
                    <a:pt x="115443" y="454279"/>
                  </a:lnTo>
                  <a:lnTo>
                    <a:pt x="146177" y="456946"/>
                  </a:lnTo>
                  <a:lnTo>
                    <a:pt x="157480" y="456565"/>
                  </a:lnTo>
                  <a:lnTo>
                    <a:pt x="197612" y="448310"/>
                  </a:lnTo>
                  <a:lnTo>
                    <a:pt x="223774" y="434467"/>
                  </a:lnTo>
                  <a:lnTo>
                    <a:pt x="283210" y="434467"/>
                  </a:lnTo>
                  <a:lnTo>
                    <a:pt x="283210" y="405384"/>
                  </a:lnTo>
                  <a:lnTo>
                    <a:pt x="283210" y="0"/>
                  </a:lnTo>
                  <a:close/>
                </a:path>
                <a:path w="283844" h="457200">
                  <a:moveTo>
                    <a:pt x="283298" y="434517"/>
                  </a:moveTo>
                  <a:lnTo>
                    <a:pt x="223774" y="434517"/>
                  </a:lnTo>
                  <a:lnTo>
                    <a:pt x="223774" y="450977"/>
                  </a:lnTo>
                  <a:lnTo>
                    <a:pt x="283298" y="450977"/>
                  </a:lnTo>
                  <a:lnTo>
                    <a:pt x="283298" y="434517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3464" y="1386840"/>
              <a:ext cx="2078735" cy="28955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0695431" y="484631"/>
              <a:ext cx="951230" cy="454659"/>
            </a:xfrm>
            <a:custGeom>
              <a:avLst/>
              <a:gdLst/>
              <a:ahLst/>
              <a:cxnLst/>
              <a:rect l="l" t="t" r="r" b="b"/>
              <a:pathLst>
                <a:path w="951229" h="454659">
                  <a:moveTo>
                    <a:pt x="475234" y="0"/>
                  </a:moveTo>
                  <a:lnTo>
                    <a:pt x="238506" y="187833"/>
                  </a:lnTo>
                  <a:lnTo>
                    <a:pt x="75311" y="316611"/>
                  </a:lnTo>
                  <a:lnTo>
                    <a:pt x="0" y="373761"/>
                  </a:lnTo>
                  <a:lnTo>
                    <a:pt x="59436" y="448945"/>
                  </a:lnTo>
                  <a:lnTo>
                    <a:pt x="475234" y="57023"/>
                  </a:lnTo>
                  <a:lnTo>
                    <a:pt x="891286" y="454151"/>
                  </a:lnTo>
                  <a:lnTo>
                    <a:pt x="950722" y="373761"/>
                  </a:lnTo>
                  <a:lnTo>
                    <a:pt x="475234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94719" y="664464"/>
              <a:ext cx="161544" cy="17068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978896" y="807720"/>
              <a:ext cx="396240" cy="819785"/>
            </a:xfrm>
            <a:custGeom>
              <a:avLst/>
              <a:gdLst/>
              <a:ahLst/>
              <a:cxnLst/>
              <a:rect l="l" t="t" r="r" b="b"/>
              <a:pathLst>
                <a:path w="396240" h="819785">
                  <a:moveTo>
                    <a:pt x="40004" y="0"/>
                  </a:moveTo>
                  <a:lnTo>
                    <a:pt x="28448" y="8635"/>
                  </a:lnTo>
                  <a:lnTo>
                    <a:pt x="7874" y="37973"/>
                  </a:lnTo>
                  <a:lnTo>
                    <a:pt x="0" y="92963"/>
                  </a:lnTo>
                  <a:lnTo>
                    <a:pt x="26034" y="178688"/>
                  </a:lnTo>
                  <a:lnTo>
                    <a:pt x="77724" y="260984"/>
                  </a:lnTo>
                  <a:lnTo>
                    <a:pt x="97027" y="335152"/>
                  </a:lnTo>
                  <a:lnTo>
                    <a:pt x="98171" y="388620"/>
                  </a:lnTo>
                  <a:lnTo>
                    <a:pt x="95503" y="409321"/>
                  </a:lnTo>
                  <a:lnTo>
                    <a:pt x="72262" y="393064"/>
                  </a:lnTo>
                  <a:lnTo>
                    <a:pt x="56133" y="362076"/>
                  </a:lnTo>
                  <a:lnTo>
                    <a:pt x="46735" y="331977"/>
                  </a:lnTo>
                  <a:lnTo>
                    <a:pt x="43687" y="318388"/>
                  </a:lnTo>
                  <a:lnTo>
                    <a:pt x="35559" y="331977"/>
                  </a:lnTo>
                  <a:lnTo>
                    <a:pt x="21081" y="368807"/>
                  </a:lnTo>
                  <a:lnTo>
                    <a:pt x="15112" y="423036"/>
                  </a:lnTo>
                  <a:lnTo>
                    <a:pt x="32511" y="488060"/>
                  </a:lnTo>
                  <a:lnTo>
                    <a:pt x="107950" y="581786"/>
                  </a:lnTo>
                  <a:lnTo>
                    <a:pt x="169545" y="691006"/>
                  </a:lnTo>
                  <a:lnTo>
                    <a:pt x="210947" y="781684"/>
                  </a:lnTo>
                  <a:lnTo>
                    <a:pt x="226059" y="819530"/>
                  </a:lnTo>
                  <a:lnTo>
                    <a:pt x="267843" y="786129"/>
                  </a:lnTo>
                  <a:lnTo>
                    <a:pt x="299720" y="746378"/>
                  </a:lnTo>
                  <a:lnTo>
                    <a:pt x="322833" y="701801"/>
                  </a:lnTo>
                  <a:lnTo>
                    <a:pt x="338074" y="653923"/>
                  </a:lnTo>
                  <a:lnTo>
                    <a:pt x="346328" y="604393"/>
                  </a:lnTo>
                  <a:lnTo>
                    <a:pt x="348614" y="554481"/>
                  </a:lnTo>
                  <a:lnTo>
                    <a:pt x="345694" y="505840"/>
                  </a:lnTo>
                  <a:lnTo>
                    <a:pt x="338454" y="460121"/>
                  </a:lnTo>
                  <a:lnTo>
                    <a:pt x="328168" y="418591"/>
                  </a:lnTo>
                  <a:lnTo>
                    <a:pt x="315340" y="382777"/>
                  </a:lnTo>
                  <a:lnTo>
                    <a:pt x="301117" y="354456"/>
                  </a:lnTo>
                  <a:lnTo>
                    <a:pt x="261747" y="392049"/>
                  </a:lnTo>
                  <a:lnTo>
                    <a:pt x="226440" y="404368"/>
                  </a:lnTo>
                  <a:lnTo>
                    <a:pt x="201168" y="403225"/>
                  </a:lnTo>
                  <a:lnTo>
                    <a:pt x="191515" y="400303"/>
                  </a:lnTo>
                  <a:lnTo>
                    <a:pt x="203453" y="388747"/>
                  </a:lnTo>
                  <a:lnTo>
                    <a:pt x="233806" y="357758"/>
                  </a:lnTo>
                  <a:lnTo>
                    <a:pt x="274574" y="312927"/>
                  </a:lnTo>
                  <a:lnTo>
                    <a:pt x="317880" y="259714"/>
                  </a:lnTo>
                  <a:lnTo>
                    <a:pt x="353568" y="195960"/>
                  </a:lnTo>
                  <a:lnTo>
                    <a:pt x="377698" y="128015"/>
                  </a:lnTo>
                  <a:lnTo>
                    <a:pt x="391413" y="74040"/>
                  </a:lnTo>
                  <a:lnTo>
                    <a:pt x="395731" y="52070"/>
                  </a:lnTo>
                  <a:lnTo>
                    <a:pt x="383539" y="58038"/>
                  </a:lnTo>
                  <a:lnTo>
                    <a:pt x="347218" y="69976"/>
                  </a:lnTo>
                  <a:lnTo>
                    <a:pt x="287020" y="78612"/>
                  </a:lnTo>
                  <a:lnTo>
                    <a:pt x="203073" y="74549"/>
                  </a:lnTo>
                  <a:lnTo>
                    <a:pt x="123825" y="55372"/>
                  </a:lnTo>
                  <a:lnTo>
                    <a:pt x="73659" y="30606"/>
                  </a:lnTo>
                  <a:lnTo>
                    <a:pt x="47498" y="9144"/>
                  </a:lnTo>
                  <a:lnTo>
                    <a:pt x="40004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008" y="149352"/>
              <a:ext cx="813816" cy="13837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101" y="552195"/>
            <a:ext cx="60991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59280" algn="l"/>
                <a:tab pos="4241800" algn="l"/>
              </a:tabLst>
            </a:pPr>
            <a:r>
              <a:rPr lang="en-IN" sz="2800" spc="95" dirty="0">
                <a:sym typeface="+mn-ea"/>
              </a:rPr>
              <a:t>Glossary</a:t>
            </a:r>
            <a:endParaRPr spc="95" dirty="0"/>
          </a:p>
        </p:txBody>
      </p:sp>
      <p:sp>
        <p:nvSpPr>
          <p:cNvPr id="3" name="object 3"/>
          <p:cNvSpPr/>
          <p:nvPr/>
        </p:nvSpPr>
        <p:spPr>
          <a:xfrm>
            <a:off x="0" y="548627"/>
            <a:ext cx="283845" cy="436245"/>
          </a:xfrm>
          <a:custGeom>
            <a:avLst/>
            <a:gdLst/>
            <a:ahLst/>
            <a:cxnLst/>
            <a:rect l="l" t="t" r="r" b="b"/>
            <a:pathLst>
              <a:path w="283845" h="436244">
                <a:moveTo>
                  <a:pt x="283286" y="0"/>
                </a:moveTo>
                <a:lnTo>
                  <a:pt x="0" y="0"/>
                </a:lnTo>
                <a:lnTo>
                  <a:pt x="0" y="435622"/>
                </a:lnTo>
                <a:lnTo>
                  <a:pt x="283286" y="435622"/>
                </a:lnTo>
                <a:lnTo>
                  <a:pt x="283286" y="0"/>
                </a:lnTo>
                <a:close/>
              </a:path>
            </a:pathLst>
          </a:custGeom>
          <a:solidFill>
            <a:srgbClr val="374E8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12240768" y="467868"/>
            <a:ext cx="1371600" cy="527685"/>
            <a:chOff x="12240768" y="467868"/>
            <a:chExt cx="1371600" cy="527685"/>
          </a:xfrm>
        </p:grpSpPr>
        <p:pic>
          <p:nvPicPr>
            <p:cNvPr id="46" name="object 4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97968" y="473964"/>
              <a:ext cx="914400" cy="3870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2240768" y="467868"/>
              <a:ext cx="421005" cy="200025"/>
            </a:xfrm>
            <a:custGeom>
              <a:avLst/>
              <a:gdLst/>
              <a:ahLst/>
              <a:cxnLst/>
              <a:rect l="l" t="t" r="r" b="b"/>
              <a:pathLst>
                <a:path w="421004" h="200025">
                  <a:moveTo>
                    <a:pt x="210438" y="0"/>
                  </a:moveTo>
                  <a:lnTo>
                    <a:pt x="105663" y="82803"/>
                  </a:lnTo>
                  <a:lnTo>
                    <a:pt x="33274" y="139446"/>
                  </a:lnTo>
                  <a:lnTo>
                    <a:pt x="0" y="164591"/>
                  </a:lnTo>
                  <a:lnTo>
                    <a:pt x="26288" y="197738"/>
                  </a:lnTo>
                  <a:lnTo>
                    <a:pt x="210438" y="25146"/>
                  </a:lnTo>
                  <a:lnTo>
                    <a:pt x="394588" y="200025"/>
                  </a:lnTo>
                  <a:lnTo>
                    <a:pt x="420877" y="164591"/>
                  </a:lnTo>
                  <a:lnTo>
                    <a:pt x="210438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8382" y="888745"/>
              <a:ext cx="892556" cy="9067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691237" y="867028"/>
              <a:ext cx="920115" cy="128270"/>
            </a:xfrm>
            <a:custGeom>
              <a:avLst/>
              <a:gdLst/>
              <a:ahLst/>
              <a:cxnLst/>
              <a:rect l="l" t="t" r="r" b="b"/>
              <a:pathLst>
                <a:path w="920115" h="128269">
                  <a:moveTo>
                    <a:pt x="919543" y="116713"/>
                  </a:moveTo>
                  <a:lnTo>
                    <a:pt x="0" y="116713"/>
                  </a:lnTo>
                  <a:lnTo>
                    <a:pt x="0" y="128143"/>
                  </a:lnTo>
                  <a:lnTo>
                    <a:pt x="919543" y="128143"/>
                  </a:lnTo>
                  <a:lnTo>
                    <a:pt x="919543" y="116713"/>
                  </a:lnTo>
                  <a:close/>
                </a:path>
                <a:path w="920115" h="128269">
                  <a:moveTo>
                    <a:pt x="919543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919543" y="11430"/>
                  </a:lnTo>
                  <a:lnTo>
                    <a:pt x="919543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17552" y="547115"/>
              <a:ext cx="73150" cy="762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2367260" y="611123"/>
              <a:ext cx="173990" cy="362585"/>
            </a:xfrm>
            <a:custGeom>
              <a:avLst/>
              <a:gdLst/>
              <a:ahLst/>
              <a:cxnLst/>
              <a:rect l="l" t="t" r="r" b="b"/>
              <a:pathLst>
                <a:path w="173990" h="362584">
                  <a:moveTo>
                    <a:pt x="17525" y="0"/>
                  </a:moveTo>
                  <a:lnTo>
                    <a:pt x="12446" y="3809"/>
                  </a:lnTo>
                  <a:lnTo>
                    <a:pt x="3429" y="16764"/>
                  </a:lnTo>
                  <a:lnTo>
                    <a:pt x="0" y="41148"/>
                  </a:lnTo>
                  <a:lnTo>
                    <a:pt x="11430" y="79121"/>
                  </a:lnTo>
                  <a:lnTo>
                    <a:pt x="34036" y="115570"/>
                  </a:lnTo>
                  <a:lnTo>
                    <a:pt x="42545" y="148335"/>
                  </a:lnTo>
                  <a:lnTo>
                    <a:pt x="43053" y="171957"/>
                  </a:lnTo>
                  <a:lnTo>
                    <a:pt x="41910" y="181101"/>
                  </a:lnTo>
                  <a:lnTo>
                    <a:pt x="31623" y="173990"/>
                  </a:lnTo>
                  <a:lnTo>
                    <a:pt x="24638" y="160274"/>
                  </a:lnTo>
                  <a:lnTo>
                    <a:pt x="20447" y="146939"/>
                  </a:lnTo>
                  <a:lnTo>
                    <a:pt x="19176" y="140970"/>
                  </a:lnTo>
                  <a:lnTo>
                    <a:pt x="15621" y="146939"/>
                  </a:lnTo>
                  <a:lnTo>
                    <a:pt x="9271" y="163195"/>
                  </a:lnTo>
                  <a:lnTo>
                    <a:pt x="6604" y="187071"/>
                  </a:lnTo>
                  <a:lnTo>
                    <a:pt x="14224" y="215900"/>
                  </a:lnTo>
                  <a:lnTo>
                    <a:pt x="47371" y="257301"/>
                  </a:lnTo>
                  <a:lnTo>
                    <a:pt x="74422" y="305689"/>
                  </a:lnTo>
                  <a:lnTo>
                    <a:pt x="92583" y="345821"/>
                  </a:lnTo>
                  <a:lnTo>
                    <a:pt x="99187" y="362584"/>
                  </a:lnTo>
                  <a:lnTo>
                    <a:pt x="133858" y="326390"/>
                  </a:lnTo>
                  <a:lnTo>
                    <a:pt x="150114" y="280543"/>
                  </a:lnTo>
                  <a:lnTo>
                    <a:pt x="152400" y="232282"/>
                  </a:lnTo>
                  <a:lnTo>
                    <a:pt x="145034" y="188595"/>
                  </a:lnTo>
                  <a:lnTo>
                    <a:pt x="132080" y="156845"/>
                  </a:lnTo>
                  <a:lnTo>
                    <a:pt x="114808" y="173481"/>
                  </a:lnTo>
                  <a:lnTo>
                    <a:pt x="99314" y="178943"/>
                  </a:lnTo>
                  <a:lnTo>
                    <a:pt x="88265" y="178434"/>
                  </a:lnTo>
                  <a:lnTo>
                    <a:pt x="84074" y="177165"/>
                  </a:lnTo>
                  <a:lnTo>
                    <a:pt x="89281" y="172084"/>
                  </a:lnTo>
                  <a:lnTo>
                    <a:pt x="102616" y="158369"/>
                  </a:lnTo>
                  <a:lnTo>
                    <a:pt x="139446" y="114934"/>
                  </a:lnTo>
                  <a:lnTo>
                    <a:pt x="165735" y="56642"/>
                  </a:lnTo>
                  <a:lnTo>
                    <a:pt x="173609" y="22986"/>
                  </a:lnTo>
                  <a:lnTo>
                    <a:pt x="168275" y="25653"/>
                  </a:lnTo>
                  <a:lnTo>
                    <a:pt x="152400" y="30987"/>
                  </a:lnTo>
                  <a:lnTo>
                    <a:pt x="125857" y="34798"/>
                  </a:lnTo>
                  <a:lnTo>
                    <a:pt x="89154" y="33020"/>
                  </a:lnTo>
                  <a:lnTo>
                    <a:pt x="54356" y="24510"/>
                  </a:lnTo>
                  <a:lnTo>
                    <a:pt x="32385" y="13589"/>
                  </a:lnTo>
                  <a:lnTo>
                    <a:pt x="20828" y="4064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2576" y="449580"/>
            <a:ext cx="368807" cy="630935"/>
          </a:xfrm>
          <a:prstGeom prst="rect">
            <a:avLst/>
          </a:prstGeom>
        </p:spPr>
      </p:pic>
      <p:graphicFrame>
        <p:nvGraphicFramePr>
          <p:cNvPr id="7" name="Table 6"/>
          <p:cNvGraphicFramePr/>
          <p:nvPr>
            <p:custDataLst>
              <p:tags r:id="rId5"/>
            </p:custDataLst>
          </p:nvPr>
        </p:nvGraphicFramePr>
        <p:xfrm>
          <a:off x="1295400" y="1447800"/>
          <a:ext cx="11635740" cy="5657850"/>
        </p:xfrm>
        <a:graphic>
          <a:graphicData uri="http://schemas.openxmlformats.org/drawingml/2006/table">
            <a:tbl>
              <a:tblPr/>
              <a:tblGrid>
                <a:gridCol w="1952625"/>
                <a:gridCol w="2950210"/>
                <a:gridCol w="6732905"/>
              </a:tblGrid>
              <a:tr h="441325">
                <a:tc>
                  <a:txBody>
                    <a:bodyPr/>
                    <a:p>
                      <a:pPr algn="ctr" fontAlgn="ctr"/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Short Name</a:t>
                      </a:r>
                      <a:endParaRPr lang="en-US" altLang="zh-CN" sz="2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Full Form</a:t>
                      </a:r>
                      <a:endParaRPr lang="en-US" altLang="zh-CN" sz="2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Description</a:t>
                      </a:r>
                      <a:endParaRPr lang="en-US" altLang="zh-CN" sz="2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39433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OTR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On time Repayment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percentage of Same day collection vs Same day demand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06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Collection Efficiency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percentage of total collection amount vs total demand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724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OD/Arrear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Overdue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If scheduled amount is not paid on time, then all amount pending is considered as overdue.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660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Delinquent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I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I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 a monetary context, something that has been made payable and is overdue and unpaid.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71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PAR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Portfolio At Risk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Due to overdue all portfolio outstanding of particular client is consider PAR amount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7724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DPD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Days Past Due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Days Past Due (DPD) indicates the number of days by which a borrower has missed an EMI  payment.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725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NPA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 Performing Assets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Non-Performing Assets-failed to make installments of the loan for 90+ days. Or DPD 90+ clients, NPA client is remain NPA till paying total Overdue amount.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7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OTS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One Time Settlement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Scheme where company gives discount on arrear amount for selected clients.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>
            <p:custDataLst>
              <p:tags r:id="rId6"/>
            </p:custDataLst>
          </p:nvPr>
        </p:nvGraphicFramePr>
        <p:xfrm>
          <a:off x="1295400" y="7105650"/>
          <a:ext cx="11630025" cy="499110"/>
        </p:xfrm>
        <a:graphic>
          <a:graphicData uri="http://schemas.openxmlformats.org/drawingml/2006/table">
            <a:tbl>
              <a:tblPr/>
              <a:tblGrid>
                <a:gridCol w="1945005"/>
                <a:gridCol w="2951480"/>
                <a:gridCol w="6733540"/>
              </a:tblGrid>
              <a:tr h="49911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Portfolio Outstanding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Loan Portfolio  is the balance of all loans that institution has issued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4921" y="548385"/>
            <a:ext cx="60991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59280" algn="l"/>
                <a:tab pos="4241800" algn="l"/>
              </a:tabLst>
            </a:pPr>
            <a:r>
              <a:rPr lang="en-IN" sz="2800" spc="95" dirty="0"/>
              <a:t>Glossary</a:t>
            </a:r>
            <a:endParaRPr lang="en-IN" sz="2800" spc="95" dirty="0"/>
          </a:p>
        </p:txBody>
      </p:sp>
      <p:sp>
        <p:nvSpPr>
          <p:cNvPr id="3" name="object 3"/>
          <p:cNvSpPr/>
          <p:nvPr/>
        </p:nvSpPr>
        <p:spPr>
          <a:xfrm>
            <a:off x="0" y="548627"/>
            <a:ext cx="283845" cy="436245"/>
          </a:xfrm>
          <a:custGeom>
            <a:avLst/>
            <a:gdLst/>
            <a:ahLst/>
            <a:cxnLst/>
            <a:rect l="l" t="t" r="r" b="b"/>
            <a:pathLst>
              <a:path w="283845" h="436244">
                <a:moveTo>
                  <a:pt x="283286" y="0"/>
                </a:moveTo>
                <a:lnTo>
                  <a:pt x="0" y="0"/>
                </a:lnTo>
                <a:lnTo>
                  <a:pt x="0" y="435622"/>
                </a:lnTo>
                <a:lnTo>
                  <a:pt x="283286" y="435622"/>
                </a:lnTo>
                <a:lnTo>
                  <a:pt x="283286" y="0"/>
                </a:lnTo>
                <a:close/>
              </a:path>
            </a:pathLst>
          </a:custGeom>
          <a:solidFill>
            <a:srgbClr val="374E8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12240768" y="467868"/>
            <a:ext cx="1371600" cy="527685"/>
            <a:chOff x="12240768" y="467868"/>
            <a:chExt cx="1371600" cy="527685"/>
          </a:xfrm>
        </p:grpSpPr>
        <p:pic>
          <p:nvPicPr>
            <p:cNvPr id="46" name="object 4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97968" y="473964"/>
              <a:ext cx="914400" cy="3870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2240768" y="467868"/>
              <a:ext cx="421005" cy="200025"/>
            </a:xfrm>
            <a:custGeom>
              <a:avLst/>
              <a:gdLst/>
              <a:ahLst/>
              <a:cxnLst/>
              <a:rect l="l" t="t" r="r" b="b"/>
              <a:pathLst>
                <a:path w="421004" h="200025">
                  <a:moveTo>
                    <a:pt x="210438" y="0"/>
                  </a:moveTo>
                  <a:lnTo>
                    <a:pt x="105663" y="82803"/>
                  </a:lnTo>
                  <a:lnTo>
                    <a:pt x="33274" y="139446"/>
                  </a:lnTo>
                  <a:lnTo>
                    <a:pt x="0" y="164591"/>
                  </a:lnTo>
                  <a:lnTo>
                    <a:pt x="26288" y="197738"/>
                  </a:lnTo>
                  <a:lnTo>
                    <a:pt x="210438" y="25146"/>
                  </a:lnTo>
                  <a:lnTo>
                    <a:pt x="394588" y="200025"/>
                  </a:lnTo>
                  <a:lnTo>
                    <a:pt x="420877" y="164591"/>
                  </a:lnTo>
                  <a:lnTo>
                    <a:pt x="210438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8382" y="888745"/>
              <a:ext cx="892556" cy="9067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691237" y="867028"/>
              <a:ext cx="920115" cy="128270"/>
            </a:xfrm>
            <a:custGeom>
              <a:avLst/>
              <a:gdLst/>
              <a:ahLst/>
              <a:cxnLst/>
              <a:rect l="l" t="t" r="r" b="b"/>
              <a:pathLst>
                <a:path w="920115" h="128269">
                  <a:moveTo>
                    <a:pt x="919543" y="116713"/>
                  </a:moveTo>
                  <a:lnTo>
                    <a:pt x="0" y="116713"/>
                  </a:lnTo>
                  <a:lnTo>
                    <a:pt x="0" y="128143"/>
                  </a:lnTo>
                  <a:lnTo>
                    <a:pt x="919543" y="128143"/>
                  </a:lnTo>
                  <a:lnTo>
                    <a:pt x="919543" y="116713"/>
                  </a:lnTo>
                  <a:close/>
                </a:path>
                <a:path w="920115" h="128269">
                  <a:moveTo>
                    <a:pt x="919543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919543" y="11430"/>
                  </a:lnTo>
                  <a:lnTo>
                    <a:pt x="919543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17552" y="547115"/>
              <a:ext cx="73150" cy="762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2367260" y="611123"/>
              <a:ext cx="173990" cy="362585"/>
            </a:xfrm>
            <a:custGeom>
              <a:avLst/>
              <a:gdLst/>
              <a:ahLst/>
              <a:cxnLst/>
              <a:rect l="l" t="t" r="r" b="b"/>
              <a:pathLst>
                <a:path w="173990" h="362584">
                  <a:moveTo>
                    <a:pt x="17525" y="0"/>
                  </a:moveTo>
                  <a:lnTo>
                    <a:pt x="12446" y="3809"/>
                  </a:lnTo>
                  <a:lnTo>
                    <a:pt x="3429" y="16764"/>
                  </a:lnTo>
                  <a:lnTo>
                    <a:pt x="0" y="41148"/>
                  </a:lnTo>
                  <a:lnTo>
                    <a:pt x="11430" y="79121"/>
                  </a:lnTo>
                  <a:lnTo>
                    <a:pt x="34036" y="115570"/>
                  </a:lnTo>
                  <a:lnTo>
                    <a:pt x="42545" y="148335"/>
                  </a:lnTo>
                  <a:lnTo>
                    <a:pt x="43053" y="171957"/>
                  </a:lnTo>
                  <a:lnTo>
                    <a:pt x="41910" y="181101"/>
                  </a:lnTo>
                  <a:lnTo>
                    <a:pt x="31623" y="173990"/>
                  </a:lnTo>
                  <a:lnTo>
                    <a:pt x="24638" y="160274"/>
                  </a:lnTo>
                  <a:lnTo>
                    <a:pt x="20447" y="146939"/>
                  </a:lnTo>
                  <a:lnTo>
                    <a:pt x="19176" y="140970"/>
                  </a:lnTo>
                  <a:lnTo>
                    <a:pt x="15621" y="146939"/>
                  </a:lnTo>
                  <a:lnTo>
                    <a:pt x="9271" y="163195"/>
                  </a:lnTo>
                  <a:lnTo>
                    <a:pt x="6604" y="187071"/>
                  </a:lnTo>
                  <a:lnTo>
                    <a:pt x="14224" y="215900"/>
                  </a:lnTo>
                  <a:lnTo>
                    <a:pt x="47371" y="257301"/>
                  </a:lnTo>
                  <a:lnTo>
                    <a:pt x="74422" y="305689"/>
                  </a:lnTo>
                  <a:lnTo>
                    <a:pt x="92583" y="345821"/>
                  </a:lnTo>
                  <a:lnTo>
                    <a:pt x="99187" y="362584"/>
                  </a:lnTo>
                  <a:lnTo>
                    <a:pt x="133858" y="326390"/>
                  </a:lnTo>
                  <a:lnTo>
                    <a:pt x="150114" y="280543"/>
                  </a:lnTo>
                  <a:lnTo>
                    <a:pt x="152400" y="232282"/>
                  </a:lnTo>
                  <a:lnTo>
                    <a:pt x="145034" y="188595"/>
                  </a:lnTo>
                  <a:lnTo>
                    <a:pt x="132080" y="156845"/>
                  </a:lnTo>
                  <a:lnTo>
                    <a:pt x="114808" y="173481"/>
                  </a:lnTo>
                  <a:lnTo>
                    <a:pt x="99314" y="178943"/>
                  </a:lnTo>
                  <a:lnTo>
                    <a:pt x="88265" y="178434"/>
                  </a:lnTo>
                  <a:lnTo>
                    <a:pt x="84074" y="177165"/>
                  </a:lnTo>
                  <a:lnTo>
                    <a:pt x="89281" y="172084"/>
                  </a:lnTo>
                  <a:lnTo>
                    <a:pt x="102616" y="158369"/>
                  </a:lnTo>
                  <a:lnTo>
                    <a:pt x="139446" y="114934"/>
                  </a:lnTo>
                  <a:lnTo>
                    <a:pt x="165735" y="56642"/>
                  </a:lnTo>
                  <a:lnTo>
                    <a:pt x="173609" y="22986"/>
                  </a:lnTo>
                  <a:lnTo>
                    <a:pt x="168275" y="25653"/>
                  </a:lnTo>
                  <a:lnTo>
                    <a:pt x="152400" y="30987"/>
                  </a:lnTo>
                  <a:lnTo>
                    <a:pt x="125857" y="34798"/>
                  </a:lnTo>
                  <a:lnTo>
                    <a:pt x="89154" y="33020"/>
                  </a:lnTo>
                  <a:lnTo>
                    <a:pt x="54356" y="24510"/>
                  </a:lnTo>
                  <a:lnTo>
                    <a:pt x="32385" y="13589"/>
                  </a:lnTo>
                  <a:lnTo>
                    <a:pt x="20828" y="4064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2576" y="449580"/>
            <a:ext cx="368807" cy="630935"/>
          </a:xfrm>
          <a:prstGeom prst="rect">
            <a:avLst/>
          </a:prstGeom>
        </p:spPr>
      </p:pic>
      <p:graphicFrame>
        <p:nvGraphicFramePr>
          <p:cNvPr id="6" name="Table 5"/>
          <p:cNvGraphicFramePr/>
          <p:nvPr>
            <p:custDataLst>
              <p:tags r:id="rId5"/>
            </p:custDataLst>
          </p:nvPr>
        </p:nvGraphicFramePr>
        <p:xfrm>
          <a:off x="1432560" y="1295400"/>
          <a:ext cx="11258550" cy="5973445"/>
        </p:xfrm>
        <a:graphic>
          <a:graphicData uri="http://schemas.openxmlformats.org/drawingml/2006/table">
            <a:tbl>
              <a:tblPr/>
              <a:tblGrid>
                <a:gridCol w="1888490"/>
                <a:gridCol w="3329940"/>
                <a:gridCol w="6040120"/>
              </a:tblGrid>
              <a:tr h="354965">
                <a:tc>
                  <a:txBody>
                    <a:bodyPr/>
                    <a:p>
                      <a:pPr algn="ctr" fontAlgn="ctr"/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Short Name</a:t>
                      </a:r>
                      <a:endParaRPr lang="en-US" altLang="zh-CN" sz="2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Full Form</a:t>
                      </a:r>
                      <a:endParaRPr lang="en-US" altLang="zh-CN" sz="2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2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Description</a:t>
                      </a:r>
                      <a:endParaRPr lang="en-US" altLang="zh-CN" sz="20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177609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ARC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Asset Reconstruction Company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Asset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Reconstruction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Company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specialized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financial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institution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that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buys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NPAs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or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bad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assets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from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financial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institutions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that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latter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clean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up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their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balance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sheets.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other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words,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ARCs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business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buying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bad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loans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from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banks.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496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 COVID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Clients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who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disbursed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before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31-March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2020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Post COVID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Clients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who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disbursed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After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31-March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2020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2049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FOIR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Fixed Obligation To income Ratio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repayment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loan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under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consideration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well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all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other current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loans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will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included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outflows,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which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limited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50%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monthly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income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of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household.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10565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STP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Staright Through Processing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It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is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file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submitted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by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branch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sanctioned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by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the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credit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authority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without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any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pendency  </a:t>
                      </a:r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or error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433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FTD 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For the day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Same day Report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560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MTD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Month till date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Any Report update as report date month till date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083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PTP</a:t>
                      </a:r>
                      <a:endParaRPr lang="en-US" altLang="zh-CN"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Promise to Pay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IN"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Date on which OD member promise to pay pending due</a:t>
                      </a:r>
                      <a:endParaRPr lang="en-IN"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52450"/>
            <a:ext cx="783463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59280" algn="l"/>
                <a:tab pos="4241800" algn="l"/>
              </a:tabLst>
            </a:pPr>
            <a:r>
              <a:rPr lang="en-IN" sz="2800" spc="95" dirty="0"/>
              <a:t>Definitions / T</a:t>
            </a:r>
            <a:r>
              <a:rPr lang="en-US" altLang="en-US" sz="2800" spc="95" dirty="0"/>
              <a:t>erminology</a:t>
            </a:r>
            <a:endParaRPr lang="en-US" altLang="en-US" sz="2800" spc="95" dirty="0"/>
          </a:p>
        </p:txBody>
      </p:sp>
      <p:sp>
        <p:nvSpPr>
          <p:cNvPr id="3" name="object 3"/>
          <p:cNvSpPr/>
          <p:nvPr/>
        </p:nvSpPr>
        <p:spPr>
          <a:xfrm>
            <a:off x="0" y="548627"/>
            <a:ext cx="283845" cy="436245"/>
          </a:xfrm>
          <a:custGeom>
            <a:avLst/>
            <a:gdLst/>
            <a:ahLst/>
            <a:cxnLst/>
            <a:rect l="l" t="t" r="r" b="b"/>
            <a:pathLst>
              <a:path w="283845" h="436244">
                <a:moveTo>
                  <a:pt x="283286" y="0"/>
                </a:moveTo>
                <a:lnTo>
                  <a:pt x="0" y="0"/>
                </a:lnTo>
                <a:lnTo>
                  <a:pt x="0" y="435622"/>
                </a:lnTo>
                <a:lnTo>
                  <a:pt x="283286" y="435622"/>
                </a:lnTo>
                <a:lnTo>
                  <a:pt x="283286" y="0"/>
                </a:lnTo>
                <a:close/>
              </a:path>
            </a:pathLst>
          </a:custGeom>
          <a:solidFill>
            <a:srgbClr val="374E8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12240768" y="467868"/>
            <a:ext cx="1371600" cy="527685"/>
            <a:chOff x="12240768" y="467868"/>
            <a:chExt cx="1371600" cy="527685"/>
          </a:xfrm>
        </p:grpSpPr>
        <p:pic>
          <p:nvPicPr>
            <p:cNvPr id="46" name="object 4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97968" y="473964"/>
              <a:ext cx="914400" cy="3870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2240768" y="467868"/>
              <a:ext cx="421005" cy="200025"/>
            </a:xfrm>
            <a:custGeom>
              <a:avLst/>
              <a:gdLst/>
              <a:ahLst/>
              <a:cxnLst/>
              <a:rect l="l" t="t" r="r" b="b"/>
              <a:pathLst>
                <a:path w="421004" h="200025">
                  <a:moveTo>
                    <a:pt x="210438" y="0"/>
                  </a:moveTo>
                  <a:lnTo>
                    <a:pt x="105663" y="82803"/>
                  </a:lnTo>
                  <a:lnTo>
                    <a:pt x="33274" y="139446"/>
                  </a:lnTo>
                  <a:lnTo>
                    <a:pt x="0" y="164591"/>
                  </a:lnTo>
                  <a:lnTo>
                    <a:pt x="26288" y="197738"/>
                  </a:lnTo>
                  <a:lnTo>
                    <a:pt x="210438" y="25146"/>
                  </a:lnTo>
                  <a:lnTo>
                    <a:pt x="394588" y="200025"/>
                  </a:lnTo>
                  <a:lnTo>
                    <a:pt x="420877" y="164591"/>
                  </a:lnTo>
                  <a:lnTo>
                    <a:pt x="210438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8382" y="888745"/>
              <a:ext cx="892556" cy="9067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691237" y="867028"/>
              <a:ext cx="920115" cy="128270"/>
            </a:xfrm>
            <a:custGeom>
              <a:avLst/>
              <a:gdLst/>
              <a:ahLst/>
              <a:cxnLst/>
              <a:rect l="l" t="t" r="r" b="b"/>
              <a:pathLst>
                <a:path w="920115" h="128269">
                  <a:moveTo>
                    <a:pt x="919543" y="116713"/>
                  </a:moveTo>
                  <a:lnTo>
                    <a:pt x="0" y="116713"/>
                  </a:lnTo>
                  <a:lnTo>
                    <a:pt x="0" y="128143"/>
                  </a:lnTo>
                  <a:lnTo>
                    <a:pt x="919543" y="128143"/>
                  </a:lnTo>
                  <a:lnTo>
                    <a:pt x="919543" y="116713"/>
                  </a:lnTo>
                  <a:close/>
                </a:path>
                <a:path w="920115" h="128269">
                  <a:moveTo>
                    <a:pt x="919543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919543" y="11430"/>
                  </a:lnTo>
                  <a:lnTo>
                    <a:pt x="919543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17552" y="547115"/>
              <a:ext cx="73150" cy="762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2367260" y="611123"/>
              <a:ext cx="173990" cy="362585"/>
            </a:xfrm>
            <a:custGeom>
              <a:avLst/>
              <a:gdLst/>
              <a:ahLst/>
              <a:cxnLst/>
              <a:rect l="l" t="t" r="r" b="b"/>
              <a:pathLst>
                <a:path w="173990" h="362584">
                  <a:moveTo>
                    <a:pt x="17525" y="0"/>
                  </a:moveTo>
                  <a:lnTo>
                    <a:pt x="12446" y="3809"/>
                  </a:lnTo>
                  <a:lnTo>
                    <a:pt x="3429" y="16764"/>
                  </a:lnTo>
                  <a:lnTo>
                    <a:pt x="0" y="41148"/>
                  </a:lnTo>
                  <a:lnTo>
                    <a:pt x="11430" y="79121"/>
                  </a:lnTo>
                  <a:lnTo>
                    <a:pt x="34036" y="115570"/>
                  </a:lnTo>
                  <a:lnTo>
                    <a:pt x="42545" y="148335"/>
                  </a:lnTo>
                  <a:lnTo>
                    <a:pt x="43053" y="171957"/>
                  </a:lnTo>
                  <a:lnTo>
                    <a:pt x="41910" y="181101"/>
                  </a:lnTo>
                  <a:lnTo>
                    <a:pt x="31623" y="173990"/>
                  </a:lnTo>
                  <a:lnTo>
                    <a:pt x="24638" y="160274"/>
                  </a:lnTo>
                  <a:lnTo>
                    <a:pt x="20447" y="146939"/>
                  </a:lnTo>
                  <a:lnTo>
                    <a:pt x="19176" y="140970"/>
                  </a:lnTo>
                  <a:lnTo>
                    <a:pt x="15621" y="146939"/>
                  </a:lnTo>
                  <a:lnTo>
                    <a:pt x="9271" y="163195"/>
                  </a:lnTo>
                  <a:lnTo>
                    <a:pt x="6604" y="187071"/>
                  </a:lnTo>
                  <a:lnTo>
                    <a:pt x="14224" y="215900"/>
                  </a:lnTo>
                  <a:lnTo>
                    <a:pt x="47371" y="257301"/>
                  </a:lnTo>
                  <a:lnTo>
                    <a:pt x="74422" y="305689"/>
                  </a:lnTo>
                  <a:lnTo>
                    <a:pt x="92583" y="345821"/>
                  </a:lnTo>
                  <a:lnTo>
                    <a:pt x="99187" y="362584"/>
                  </a:lnTo>
                  <a:lnTo>
                    <a:pt x="133858" y="326390"/>
                  </a:lnTo>
                  <a:lnTo>
                    <a:pt x="150114" y="280543"/>
                  </a:lnTo>
                  <a:lnTo>
                    <a:pt x="152400" y="232282"/>
                  </a:lnTo>
                  <a:lnTo>
                    <a:pt x="145034" y="188595"/>
                  </a:lnTo>
                  <a:lnTo>
                    <a:pt x="132080" y="156845"/>
                  </a:lnTo>
                  <a:lnTo>
                    <a:pt x="114808" y="173481"/>
                  </a:lnTo>
                  <a:lnTo>
                    <a:pt x="99314" y="178943"/>
                  </a:lnTo>
                  <a:lnTo>
                    <a:pt x="88265" y="178434"/>
                  </a:lnTo>
                  <a:lnTo>
                    <a:pt x="84074" y="177165"/>
                  </a:lnTo>
                  <a:lnTo>
                    <a:pt x="89281" y="172084"/>
                  </a:lnTo>
                  <a:lnTo>
                    <a:pt x="102616" y="158369"/>
                  </a:lnTo>
                  <a:lnTo>
                    <a:pt x="139446" y="114934"/>
                  </a:lnTo>
                  <a:lnTo>
                    <a:pt x="165735" y="56642"/>
                  </a:lnTo>
                  <a:lnTo>
                    <a:pt x="173609" y="22986"/>
                  </a:lnTo>
                  <a:lnTo>
                    <a:pt x="168275" y="25653"/>
                  </a:lnTo>
                  <a:lnTo>
                    <a:pt x="152400" y="30987"/>
                  </a:lnTo>
                  <a:lnTo>
                    <a:pt x="125857" y="34798"/>
                  </a:lnTo>
                  <a:lnTo>
                    <a:pt x="89154" y="33020"/>
                  </a:lnTo>
                  <a:lnTo>
                    <a:pt x="54356" y="24510"/>
                  </a:lnTo>
                  <a:lnTo>
                    <a:pt x="32385" y="13589"/>
                  </a:lnTo>
                  <a:lnTo>
                    <a:pt x="20828" y="4064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2576" y="449580"/>
            <a:ext cx="368807" cy="6309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57200" y="1371600"/>
            <a:ext cx="13220700" cy="4495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en-US" sz="2400" b="1">
                <a:latin typeface="+mn-lt"/>
                <a:cs typeface="+mn-lt"/>
              </a:rPr>
              <a:t>Repayment</a:t>
            </a:r>
            <a:r>
              <a:rPr lang="" altLang="en-US" sz="2400" b="1">
                <a:latin typeface="+mn-lt"/>
                <a:cs typeface="+mn-lt"/>
              </a:rPr>
              <a:t> </a:t>
            </a:r>
            <a:r>
              <a:rPr lang="en-US" altLang="en-US" sz="2400" b="1">
                <a:latin typeface="+mn-lt"/>
                <a:cs typeface="+mn-lt"/>
              </a:rPr>
              <a:t>Day</a:t>
            </a:r>
            <a:r>
              <a:rPr lang="" altLang="en-US" sz="2400" b="1">
                <a:latin typeface="+mn-lt"/>
                <a:cs typeface="+mn-lt"/>
              </a:rPr>
              <a:t> </a:t>
            </a:r>
            <a:r>
              <a:rPr lang="en-US" altLang="en-US" sz="2400" b="1">
                <a:latin typeface="+mn-lt"/>
                <a:cs typeface="+mn-lt"/>
              </a:rPr>
              <a:t>Branch</a:t>
            </a:r>
            <a:r>
              <a:rPr lang="en-IN" altLang="en-US" sz="2400" b="1">
                <a:latin typeface="+mn-lt"/>
                <a:cs typeface="+mn-lt"/>
              </a:rPr>
              <a:t> - </a:t>
            </a:r>
            <a:r>
              <a:rPr lang="en-IN" altLang="en-US" sz="2400">
                <a:latin typeface="+mn-lt"/>
                <a:cs typeface="+mn-lt"/>
              </a:rPr>
              <a:t>  </a:t>
            </a:r>
            <a:r>
              <a:rPr lang="en-US" altLang="zh-CN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If the total no. of scheduled Centre meetings are greater than 10,</a:t>
            </a:r>
            <a:r>
              <a:rPr lang="en-IN" altLang="en-US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then</a:t>
            </a:r>
            <a:r>
              <a:rPr lang="en-IN" altLang="en-US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branch will be considered as Repayment Day Branch.</a:t>
            </a: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CN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Repayment Day Branch</a:t>
            </a:r>
            <a:r>
              <a:rPr lang="en-IN" altLang="en-US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-</a:t>
            </a:r>
            <a:r>
              <a:rPr lang="en-IN" altLang="en-US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If the total no. of scheduled Centre meetings are less than or equals to</a:t>
            </a:r>
            <a:r>
              <a:rPr lang="en-IN" altLang="en-US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</a:t>
            </a:r>
            <a:r>
              <a:rPr lang="en-US" altLang="zh-CN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10, then Branch will be considered as Non- Repayment Day Branch.</a:t>
            </a: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CN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Repayment CO</a:t>
            </a:r>
            <a:r>
              <a:rPr lang="en-IN" altLang="en-US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- </a:t>
            </a:r>
            <a:r>
              <a:rPr lang="en-US" altLang="zh-CN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If the total no. of scheduled Centre meetings are greater than 2, then that CO will be considered as Repayment CO</a:t>
            </a: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CN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Non Repayment CO</a:t>
            </a:r>
            <a:r>
              <a:rPr lang="en-IN" altLang="en-US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-  </a:t>
            </a:r>
            <a:r>
              <a:rPr lang="en-US" altLang="zh-CN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If the total no. of scheduled Centre meetings are Less than 2, then that CO will be considered as Non Repayment CO</a:t>
            </a: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1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1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1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I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3657600" y="3607435"/>
            <a:ext cx="7315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fontAlgn="ctr"/>
            <a:endParaRPr lang="en-US" altLang="zh-CN" sz="2000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301" y="609345"/>
            <a:ext cx="60991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859280" algn="l"/>
                <a:tab pos="4241800" algn="l"/>
              </a:tabLst>
            </a:pPr>
            <a:r>
              <a:rPr lang="en-IN" sz="2800" spc="95" dirty="0">
                <a:sym typeface="+mn-ea"/>
              </a:rPr>
              <a:t>Definitions / Terminology</a:t>
            </a:r>
            <a:endParaRPr lang="en-IN" sz="2800" spc="95" dirty="0"/>
          </a:p>
        </p:txBody>
      </p:sp>
      <p:sp>
        <p:nvSpPr>
          <p:cNvPr id="3" name="object 3"/>
          <p:cNvSpPr/>
          <p:nvPr/>
        </p:nvSpPr>
        <p:spPr>
          <a:xfrm>
            <a:off x="0" y="548627"/>
            <a:ext cx="283845" cy="436245"/>
          </a:xfrm>
          <a:custGeom>
            <a:avLst/>
            <a:gdLst/>
            <a:ahLst/>
            <a:cxnLst/>
            <a:rect l="l" t="t" r="r" b="b"/>
            <a:pathLst>
              <a:path w="283845" h="436244">
                <a:moveTo>
                  <a:pt x="283286" y="0"/>
                </a:moveTo>
                <a:lnTo>
                  <a:pt x="0" y="0"/>
                </a:lnTo>
                <a:lnTo>
                  <a:pt x="0" y="435622"/>
                </a:lnTo>
                <a:lnTo>
                  <a:pt x="283286" y="435622"/>
                </a:lnTo>
                <a:lnTo>
                  <a:pt x="283286" y="0"/>
                </a:lnTo>
                <a:close/>
              </a:path>
            </a:pathLst>
          </a:custGeom>
          <a:solidFill>
            <a:srgbClr val="374E8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12240768" y="467868"/>
            <a:ext cx="1371600" cy="527685"/>
            <a:chOff x="12240768" y="467868"/>
            <a:chExt cx="1371600" cy="527685"/>
          </a:xfrm>
        </p:grpSpPr>
        <p:pic>
          <p:nvPicPr>
            <p:cNvPr id="46" name="object 4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97968" y="473964"/>
              <a:ext cx="914400" cy="3870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2240768" y="467868"/>
              <a:ext cx="421005" cy="200025"/>
            </a:xfrm>
            <a:custGeom>
              <a:avLst/>
              <a:gdLst/>
              <a:ahLst/>
              <a:cxnLst/>
              <a:rect l="l" t="t" r="r" b="b"/>
              <a:pathLst>
                <a:path w="421004" h="200025">
                  <a:moveTo>
                    <a:pt x="210438" y="0"/>
                  </a:moveTo>
                  <a:lnTo>
                    <a:pt x="105663" y="82803"/>
                  </a:lnTo>
                  <a:lnTo>
                    <a:pt x="33274" y="139446"/>
                  </a:lnTo>
                  <a:lnTo>
                    <a:pt x="0" y="164591"/>
                  </a:lnTo>
                  <a:lnTo>
                    <a:pt x="26288" y="197738"/>
                  </a:lnTo>
                  <a:lnTo>
                    <a:pt x="210438" y="25146"/>
                  </a:lnTo>
                  <a:lnTo>
                    <a:pt x="394588" y="200025"/>
                  </a:lnTo>
                  <a:lnTo>
                    <a:pt x="420877" y="164591"/>
                  </a:lnTo>
                  <a:lnTo>
                    <a:pt x="210438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8382" y="888745"/>
              <a:ext cx="892556" cy="9067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691237" y="867028"/>
              <a:ext cx="920115" cy="128270"/>
            </a:xfrm>
            <a:custGeom>
              <a:avLst/>
              <a:gdLst/>
              <a:ahLst/>
              <a:cxnLst/>
              <a:rect l="l" t="t" r="r" b="b"/>
              <a:pathLst>
                <a:path w="920115" h="128269">
                  <a:moveTo>
                    <a:pt x="919543" y="116713"/>
                  </a:moveTo>
                  <a:lnTo>
                    <a:pt x="0" y="116713"/>
                  </a:lnTo>
                  <a:lnTo>
                    <a:pt x="0" y="128143"/>
                  </a:lnTo>
                  <a:lnTo>
                    <a:pt x="919543" y="128143"/>
                  </a:lnTo>
                  <a:lnTo>
                    <a:pt x="919543" y="116713"/>
                  </a:lnTo>
                  <a:close/>
                </a:path>
                <a:path w="920115" h="128269">
                  <a:moveTo>
                    <a:pt x="919543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919543" y="11430"/>
                  </a:lnTo>
                  <a:lnTo>
                    <a:pt x="919543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17552" y="547115"/>
              <a:ext cx="73150" cy="762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2367260" y="611123"/>
              <a:ext cx="173990" cy="362585"/>
            </a:xfrm>
            <a:custGeom>
              <a:avLst/>
              <a:gdLst/>
              <a:ahLst/>
              <a:cxnLst/>
              <a:rect l="l" t="t" r="r" b="b"/>
              <a:pathLst>
                <a:path w="173990" h="362584">
                  <a:moveTo>
                    <a:pt x="17525" y="0"/>
                  </a:moveTo>
                  <a:lnTo>
                    <a:pt x="12446" y="3809"/>
                  </a:lnTo>
                  <a:lnTo>
                    <a:pt x="3429" y="16764"/>
                  </a:lnTo>
                  <a:lnTo>
                    <a:pt x="0" y="41148"/>
                  </a:lnTo>
                  <a:lnTo>
                    <a:pt x="11430" y="79121"/>
                  </a:lnTo>
                  <a:lnTo>
                    <a:pt x="34036" y="115570"/>
                  </a:lnTo>
                  <a:lnTo>
                    <a:pt x="42545" y="148335"/>
                  </a:lnTo>
                  <a:lnTo>
                    <a:pt x="43053" y="171957"/>
                  </a:lnTo>
                  <a:lnTo>
                    <a:pt x="41910" y="181101"/>
                  </a:lnTo>
                  <a:lnTo>
                    <a:pt x="31623" y="173990"/>
                  </a:lnTo>
                  <a:lnTo>
                    <a:pt x="24638" y="160274"/>
                  </a:lnTo>
                  <a:lnTo>
                    <a:pt x="20447" y="146939"/>
                  </a:lnTo>
                  <a:lnTo>
                    <a:pt x="19176" y="140970"/>
                  </a:lnTo>
                  <a:lnTo>
                    <a:pt x="15621" y="146939"/>
                  </a:lnTo>
                  <a:lnTo>
                    <a:pt x="9271" y="163195"/>
                  </a:lnTo>
                  <a:lnTo>
                    <a:pt x="6604" y="187071"/>
                  </a:lnTo>
                  <a:lnTo>
                    <a:pt x="14224" y="215900"/>
                  </a:lnTo>
                  <a:lnTo>
                    <a:pt x="47371" y="257301"/>
                  </a:lnTo>
                  <a:lnTo>
                    <a:pt x="74422" y="305689"/>
                  </a:lnTo>
                  <a:lnTo>
                    <a:pt x="92583" y="345821"/>
                  </a:lnTo>
                  <a:lnTo>
                    <a:pt x="99187" y="362584"/>
                  </a:lnTo>
                  <a:lnTo>
                    <a:pt x="133858" y="326390"/>
                  </a:lnTo>
                  <a:lnTo>
                    <a:pt x="150114" y="280543"/>
                  </a:lnTo>
                  <a:lnTo>
                    <a:pt x="152400" y="232282"/>
                  </a:lnTo>
                  <a:lnTo>
                    <a:pt x="145034" y="188595"/>
                  </a:lnTo>
                  <a:lnTo>
                    <a:pt x="132080" y="156845"/>
                  </a:lnTo>
                  <a:lnTo>
                    <a:pt x="114808" y="173481"/>
                  </a:lnTo>
                  <a:lnTo>
                    <a:pt x="99314" y="178943"/>
                  </a:lnTo>
                  <a:lnTo>
                    <a:pt x="88265" y="178434"/>
                  </a:lnTo>
                  <a:lnTo>
                    <a:pt x="84074" y="177165"/>
                  </a:lnTo>
                  <a:lnTo>
                    <a:pt x="89281" y="172084"/>
                  </a:lnTo>
                  <a:lnTo>
                    <a:pt x="102616" y="158369"/>
                  </a:lnTo>
                  <a:lnTo>
                    <a:pt x="139446" y="114934"/>
                  </a:lnTo>
                  <a:lnTo>
                    <a:pt x="165735" y="56642"/>
                  </a:lnTo>
                  <a:lnTo>
                    <a:pt x="173609" y="22986"/>
                  </a:lnTo>
                  <a:lnTo>
                    <a:pt x="168275" y="25653"/>
                  </a:lnTo>
                  <a:lnTo>
                    <a:pt x="152400" y="30987"/>
                  </a:lnTo>
                  <a:lnTo>
                    <a:pt x="125857" y="34798"/>
                  </a:lnTo>
                  <a:lnTo>
                    <a:pt x="89154" y="33020"/>
                  </a:lnTo>
                  <a:lnTo>
                    <a:pt x="54356" y="24510"/>
                  </a:lnTo>
                  <a:lnTo>
                    <a:pt x="32385" y="13589"/>
                  </a:lnTo>
                  <a:lnTo>
                    <a:pt x="20828" y="4064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2576" y="449580"/>
            <a:ext cx="368807" cy="63093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32130" y="1295400"/>
            <a:ext cx="13220700" cy="430149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CN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Matured Arrear Clients</a:t>
            </a:r>
            <a:r>
              <a:rPr lang="en-IN" altLang="en-US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-  </a:t>
            </a:r>
            <a:r>
              <a:rPr lang="en-US" altLang="zh-CN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Clients whose loan tenure has been completed but are in arrears are called as Matured Arrear Clients.</a:t>
            </a: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CN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Matured Arrear Centers</a:t>
            </a:r>
            <a:r>
              <a:rPr lang="en-IN" altLang="en-US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- </a:t>
            </a:r>
            <a:r>
              <a:rPr lang="en-US" altLang="zh-CN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A Centre in which 100% clients exists in known as Matured Arrear Center</a:t>
            </a:r>
            <a:r>
              <a:rPr lang="en-IN" altLang="en-US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.</a:t>
            </a:r>
            <a:endParaRPr lang="en-IN" altLang="en-US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kumimoji="0" lang="en-IN" altLang="en-US" sz="2400" b="0" i="0" u="none" strike="noStrike" kern="0" cap="none" spc="0" normalizeH="0" baseline="0" noProof="1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kumimoji="0" lang="en-US" altLang="zh-CN" sz="2400" b="1" i="0" u="none" strike="noStrike" kern="0" cap="none" spc="0" normalizeH="0" baseline="0" noProof="1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Operational Branch -</a:t>
            </a:r>
            <a:r>
              <a:rPr lang="en-IN" altLang="en-US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 Branches where disbursement of all products is allowed is known as operational branch.</a:t>
            </a:r>
            <a:endParaRPr lang="en-IN" altLang="en-US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lang="en-IN" altLang="en-US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IN" altLang="en-US" sz="2400" b="1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Non Operational Branch - </a:t>
            </a:r>
            <a:r>
              <a:rPr lang="en-IN" altLang="en-US" sz="2400" b="0" i="0">
                <a:solidFill>
                  <a:srgbClr val="000000"/>
                </a:solidFill>
                <a:latin typeface="+mn-lt"/>
                <a:ea typeface="Arial" panose="020B0604020202020204"/>
                <a:cs typeface="+mn-lt"/>
                <a:sym typeface="+mn-ea"/>
              </a:rPr>
              <a:t> Branches where disbursement of new clients at new centre is suspended due to spikes in the arrear but lending at graduated center is allowed. </a:t>
            </a:r>
            <a:endParaRPr lang="en-IN" altLang="en-US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lang="en-IN" altLang="en-US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0" indent="0" algn="just">
              <a:lnSpc>
                <a:spcPct val="100000"/>
              </a:lnSpc>
              <a:buFont typeface="Wingdings" panose="05000000000000000000" charset="0"/>
              <a:buNone/>
            </a:pPr>
            <a:endParaRPr lang="en-IN" altLang="en-US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lvl="0" indent="-342900" algn="l">
              <a:lnSpc>
                <a:spcPct val="100000"/>
              </a:lnSpc>
              <a:buFont typeface="Wingdings" panose="05000000000000000000" charset="0"/>
              <a:buChar char="v"/>
            </a:pP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0" indent="0" algn="just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sz="2400" b="0" i="0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r>
              <a:rPr lang="en-US" altLang="zh-CN" sz="100" b="0" i="0">
                <a:solidFill>
                  <a:srgbClr val="000000"/>
                </a:solidFill>
                <a:ea typeface="Arial" panose="020B0604020202020204"/>
                <a:cs typeface="+mn-lt"/>
                <a:sym typeface="+mn-ea"/>
              </a:rPr>
              <a:t>s.</a:t>
            </a:r>
            <a:endParaRPr lang="en-US" altLang="zh-CN" sz="100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pPr marL="342900" indent="-342900" algn="just">
              <a:lnSpc>
                <a:spcPct val="100000"/>
              </a:lnSpc>
              <a:buFont typeface="Wingdings" panose="05000000000000000000" charset="0"/>
              <a:buChar char="v"/>
            </a:pPr>
            <a:endParaRPr lang="en-US" altLang="zh-CN" sz="100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pPr marL="0" indent="0" algn="l">
              <a:lnSpc>
                <a:spcPct val="100000"/>
              </a:lnSpc>
              <a:buFont typeface="Wingdings" panose="05000000000000000000" charset="0"/>
              <a:buNone/>
            </a:pPr>
            <a:endParaRPr kumimoji="0" lang="en-US" altLang="zh-CN" sz="2400" b="0" i="0" u="none" strike="noStrike" kern="0" cap="none" spc="0" normalizeH="0" baseline="0" noProof="1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endParaRPr kumimoji="0" lang="en-US" altLang="zh-CN" sz="2400" b="0" i="0" u="none" strike="noStrike" kern="0" cap="none" spc="0" normalizeH="0" baseline="0" noProof="1">
              <a:solidFill>
                <a:srgbClr val="000000"/>
              </a:solidFill>
              <a:latin typeface="+mn-lt"/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1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1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1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  <a:p>
            <a:endParaRPr lang="en-US" altLang="zh-CN" b="0" i="0">
              <a:solidFill>
                <a:srgbClr val="000000"/>
              </a:solidFill>
              <a:ea typeface="Arial" panose="020B0604020202020204"/>
              <a:cs typeface="+mn-lt"/>
            </a:endParaRPr>
          </a:p>
          <a:p>
            <a:endParaRPr lang="en-IN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3657600" y="4953000"/>
            <a:ext cx="7315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fontAlgn="ctr"/>
            <a:endParaRPr lang="en-US" altLang="zh-CN" sz="2000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388110" y="1219200"/>
          <a:ext cx="11303000" cy="5913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301" y="548385"/>
            <a:ext cx="60991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859280" algn="l"/>
                <a:tab pos="4241800" algn="l"/>
              </a:tabLst>
            </a:pPr>
            <a:r>
              <a:rPr lang="en-IN" sz="2800" spc="95" dirty="0">
                <a:sym typeface="+mn-ea"/>
              </a:rPr>
              <a:t>Terminology</a:t>
            </a:r>
            <a:endParaRPr lang="en-IN" sz="2800" spc="95" dirty="0"/>
          </a:p>
        </p:txBody>
      </p:sp>
      <p:sp>
        <p:nvSpPr>
          <p:cNvPr id="3" name="object 3"/>
          <p:cNvSpPr/>
          <p:nvPr/>
        </p:nvSpPr>
        <p:spPr>
          <a:xfrm>
            <a:off x="0" y="548627"/>
            <a:ext cx="283845" cy="436245"/>
          </a:xfrm>
          <a:custGeom>
            <a:avLst/>
            <a:gdLst/>
            <a:ahLst/>
            <a:cxnLst/>
            <a:rect l="l" t="t" r="r" b="b"/>
            <a:pathLst>
              <a:path w="283845" h="436244">
                <a:moveTo>
                  <a:pt x="283286" y="0"/>
                </a:moveTo>
                <a:lnTo>
                  <a:pt x="0" y="0"/>
                </a:lnTo>
                <a:lnTo>
                  <a:pt x="0" y="435622"/>
                </a:lnTo>
                <a:lnTo>
                  <a:pt x="283286" y="435622"/>
                </a:lnTo>
                <a:lnTo>
                  <a:pt x="283286" y="0"/>
                </a:lnTo>
                <a:close/>
              </a:path>
            </a:pathLst>
          </a:custGeom>
          <a:solidFill>
            <a:srgbClr val="374E8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12240768" y="467868"/>
            <a:ext cx="1371600" cy="527685"/>
            <a:chOff x="12240768" y="467868"/>
            <a:chExt cx="1371600" cy="527685"/>
          </a:xfrm>
        </p:grpSpPr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97968" y="473964"/>
              <a:ext cx="914400" cy="3870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2240768" y="467868"/>
              <a:ext cx="421005" cy="200025"/>
            </a:xfrm>
            <a:custGeom>
              <a:avLst/>
              <a:gdLst/>
              <a:ahLst/>
              <a:cxnLst/>
              <a:rect l="l" t="t" r="r" b="b"/>
              <a:pathLst>
                <a:path w="421004" h="200025">
                  <a:moveTo>
                    <a:pt x="210438" y="0"/>
                  </a:moveTo>
                  <a:lnTo>
                    <a:pt x="105663" y="82803"/>
                  </a:lnTo>
                  <a:lnTo>
                    <a:pt x="33274" y="139446"/>
                  </a:lnTo>
                  <a:lnTo>
                    <a:pt x="0" y="164591"/>
                  </a:lnTo>
                  <a:lnTo>
                    <a:pt x="26288" y="197738"/>
                  </a:lnTo>
                  <a:lnTo>
                    <a:pt x="210438" y="25146"/>
                  </a:lnTo>
                  <a:lnTo>
                    <a:pt x="394588" y="200025"/>
                  </a:lnTo>
                  <a:lnTo>
                    <a:pt x="420877" y="164591"/>
                  </a:lnTo>
                  <a:lnTo>
                    <a:pt x="210438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08382" y="888745"/>
              <a:ext cx="892556" cy="9067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691237" y="867028"/>
              <a:ext cx="920115" cy="128270"/>
            </a:xfrm>
            <a:custGeom>
              <a:avLst/>
              <a:gdLst/>
              <a:ahLst/>
              <a:cxnLst/>
              <a:rect l="l" t="t" r="r" b="b"/>
              <a:pathLst>
                <a:path w="920115" h="128269">
                  <a:moveTo>
                    <a:pt x="919543" y="116713"/>
                  </a:moveTo>
                  <a:lnTo>
                    <a:pt x="0" y="116713"/>
                  </a:lnTo>
                  <a:lnTo>
                    <a:pt x="0" y="128143"/>
                  </a:lnTo>
                  <a:lnTo>
                    <a:pt x="919543" y="128143"/>
                  </a:lnTo>
                  <a:lnTo>
                    <a:pt x="919543" y="116713"/>
                  </a:lnTo>
                  <a:close/>
                </a:path>
                <a:path w="920115" h="128269">
                  <a:moveTo>
                    <a:pt x="919543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919543" y="11430"/>
                  </a:lnTo>
                  <a:lnTo>
                    <a:pt x="919543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17552" y="547115"/>
              <a:ext cx="73150" cy="762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2367260" y="611123"/>
              <a:ext cx="173990" cy="362585"/>
            </a:xfrm>
            <a:custGeom>
              <a:avLst/>
              <a:gdLst/>
              <a:ahLst/>
              <a:cxnLst/>
              <a:rect l="l" t="t" r="r" b="b"/>
              <a:pathLst>
                <a:path w="173990" h="362584">
                  <a:moveTo>
                    <a:pt x="17525" y="0"/>
                  </a:moveTo>
                  <a:lnTo>
                    <a:pt x="12446" y="3809"/>
                  </a:lnTo>
                  <a:lnTo>
                    <a:pt x="3429" y="16764"/>
                  </a:lnTo>
                  <a:lnTo>
                    <a:pt x="0" y="41148"/>
                  </a:lnTo>
                  <a:lnTo>
                    <a:pt x="11430" y="79121"/>
                  </a:lnTo>
                  <a:lnTo>
                    <a:pt x="34036" y="115570"/>
                  </a:lnTo>
                  <a:lnTo>
                    <a:pt x="42545" y="148335"/>
                  </a:lnTo>
                  <a:lnTo>
                    <a:pt x="43053" y="171957"/>
                  </a:lnTo>
                  <a:lnTo>
                    <a:pt x="41910" y="181101"/>
                  </a:lnTo>
                  <a:lnTo>
                    <a:pt x="31623" y="173990"/>
                  </a:lnTo>
                  <a:lnTo>
                    <a:pt x="24638" y="160274"/>
                  </a:lnTo>
                  <a:lnTo>
                    <a:pt x="20447" y="146939"/>
                  </a:lnTo>
                  <a:lnTo>
                    <a:pt x="19176" y="140970"/>
                  </a:lnTo>
                  <a:lnTo>
                    <a:pt x="15621" y="146939"/>
                  </a:lnTo>
                  <a:lnTo>
                    <a:pt x="9271" y="163195"/>
                  </a:lnTo>
                  <a:lnTo>
                    <a:pt x="6604" y="187071"/>
                  </a:lnTo>
                  <a:lnTo>
                    <a:pt x="14224" y="215900"/>
                  </a:lnTo>
                  <a:lnTo>
                    <a:pt x="47371" y="257301"/>
                  </a:lnTo>
                  <a:lnTo>
                    <a:pt x="74422" y="305689"/>
                  </a:lnTo>
                  <a:lnTo>
                    <a:pt x="92583" y="345821"/>
                  </a:lnTo>
                  <a:lnTo>
                    <a:pt x="99187" y="362584"/>
                  </a:lnTo>
                  <a:lnTo>
                    <a:pt x="133858" y="326390"/>
                  </a:lnTo>
                  <a:lnTo>
                    <a:pt x="150114" y="280543"/>
                  </a:lnTo>
                  <a:lnTo>
                    <a:pt x="152400" y="232282"/>
                  </a:lnTo>
                  <a:lnTo>
                    <a:pt x="145034" y="188595"/>
                  </a:lnTo>
                  <a:lnTo>
                    <a:pt x="132080" y="156845"/>
                  </a:lnTo>
                  <a:lnTo>
                    <a:pt x="114808" y="173481"/>
                  </a:lnTo>
                  <a:lnTo>
                    <a:pt x="99314" y="178943"/>
                  </a:lnTo>
                  <a:lnTo>
                    <a:pt x="88265" y="178434"/>
                  </a:lnTo>
                  <a:lnTo>
                    <a:pt x="84074" y="177165"/>
                  </a:lnTo>
                  <a:lnTo>
                    <a:pt x="89281" y="172084"/>
                  </a:lnTo>
                  <a:lnTo>
                    <a:pt x="102616" y="158369"/>
                  </a:lnTo>
                  <a:lnTo>
                    <a:pt x="139446" y="114934"/>
                  </a:lnTo>
                  <a:lnTo>
                    <a:pt x="165735" y="56642"/>
                  </a:lnTo>
                  <a:lnTo>
                    <a:pt x="173609" y="22986"/>
                  </a:lnTo>
                  <a:lnTo>
                    <a:pt x="168275" y="25653"/>
                  </a:lnTo>
                  <a:lnTo>
                    <a:pt x="152400" y="30987"/>
                  </a:lnTo>
                  <a:lnTo>
                    <a:pt x="125857" y="34798"/>
                  </a:lnTo>
                  <a:lnTo>
                    <a:pt x="89154" y="33020"/>
                  </a:lnTo>
                  <a:lnTo>
                    <a:pt x="54356" y="24510"/>
                  </a:lnTo>
                  <a:lnTo>
                    <a:pt x="32385" y="13589"/>
                  </a:lnTo>
                  <a:lnTo>
                    <a:pt x="20828" y="4064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752576" y="449580"/>
            <a:ext cx="368807" cy="63093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3657600" y="3607435"/>
            <a:ext cx="73152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fontAlgn="ctr"/>
            <a:endParaRPr lang="en-US" altLang="zh-CN" sz="2000" b="0" i="0">
              <a:solidFill>
                <a:srgbClr val="000000"/>
              </a:solidFill>
              <a:ea typeface="Arial" panose="020B0604020202020204"/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388110" y="1219200"/>
          <a:ext cx="11303000" cy="5913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301" y="552195"/>
            <a:ext cx="60991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859280" algn="l"/>
                <a:tab pos="4241800" algn="l"/>
              </a:tabLst>
            </a:pPr>
            <a:r>
              <a:rPr lang="en-IN" sz="2800" spc="95" dirty="0">
                <a:sym typeface="+mn-ea"/>
              </a:rPr>
              <a:t>Terminology</a:t>
            </a:r>
            <a:endParaRPr lang="en-IN" sz="2800" spc="95" dirty="0"/>
          </a:p>
        </p:txBody>
      </p:sp>
      <p:sp>
        <p:nvSpPr>
          <p:cNvPr id="3" name="object 3"/>
          <p:cNvSpPr/>
          <p:nvPr/>
        </p:nvSpPr>
        <p:spPr>
          <a:xfrm>
            <a:off x="0" y="548627"/>
            <a:ext cx="283845" cy="436245"/>
          </a:xfrm>
          <a:custGeom>
            <a:avLst/>
            <a:gdLst/>
            <a:ahLst/>
            <a:cxnLst/>
            <a:rect l="l" t="t" r="r" b="b"/>
            <a:pathLst>
              <a:path w="283845" h="436244">
                <a:moveTo>
                  <a:pt x="283286" y="0"/>
                </a:moveTo>
                <a:lnTo>
                  <a:pt x="0" y="0"/>
                </a:lnTo>
                <a:lnTo>
                  <a:pt x="0" y="435622"/>
                </a:lnTo>
                <a:lnTo>
                  <a:pt x="283286" y="435622"/>
                </a:lnTo>
                <a:lnTo>
                  <a:pt x="283286" y="0"/>
                </a:lnTo>
                <a:close/>
              </a:path>
            </a:pathLst>
          </a:custGeom>
          <a:solidFill>
            <a:srgbClr val="374E8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12240768" y="467868"/>
            <a:ext cx="1371600" cy="527685"/>
            <a:chOff x="12240768" y="467868"/>
            <a:chExt cx="1371600" cy="527685"/>
          </a:xfrm>
        </p:grpSpPr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97968" y="473964"/>
              <a:ext cx="914400" cy="3870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2240768" y="467868"/>
              <a:ext cx="421005" cy="200025"/>
            </a:xfrm>
            <a:custGeom>
              <a:avLst/>
              <a:gdLst/>
              <a:ahLst/>
              <a:cxnLst/>
              <a:rect l="l" t="t" r="r" b="b"/>
              <a:pathLst>
                <a:path w="421004" h="200025">
                  <a:moveTo>
                    <a:pt x="210438" y="0"/>
                  </a:moveTo>
                  <a:lnTo>
                    <a:pt x="105663" y="82803"/>
                  </a:lnTo>
                  <a:lnTo>
                    <a:pt x="33274" y="139446"/>
                  </a:lnTo>
                  <a:lnTo>
                    <a:pt x="0" y="164591"/>
                  </a:lnTo>
                  <a:lnTo>
                    <a:pt x="26288" y="197738"/>
                  </a:lnTo>
                  <a:lnTo>
                    <a:pt x="210438" y="25146"/>
                  </a:lnTo>
                  <a:lnTo>
                    <a:pt x="394588" y="200025"/>
                  </a:lnTo>
                  <a:lnTo>
                    <a:pt x="420877" y="164591"/>
                  </a:lnTo>
                  <a:lnTo>
                    <a:pt x="210438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708382" y="888745"/>
              <a:ext cx="892556" cy="9067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691237" y="867028"/>
              <a:ext cx="920115" cy="128270"/>
            </a:xfrm>
            <a:custGeom>
              <a:avLst/>
              <a:gdLst/>
              <a:ahLst/>
              <a:cxnLst/>
              <a:rect l="l" t="t" r="r" b="b"/>
              <a:pathLst>
                <a:path w="920115" h="128269">
                  <a:moveTo>
                    <a:pt x="919543" y="116713"/>
                  </a:moveTo>
                  <a:lnTo>
                    <a:pt x="0" y="116713"/>
                  </a:lnTo>
                  <a:lnTo>
                    <a:pt x="0" y="128143"/>
                  </a:lnTo>
                  <a:lnTo>
                    <a:pt x="919543" y="128143"/>
                  </a:lnTo>
                  <a:lnTo>
                    <a:pt x="919543" y="116713"/>
                  </a:lnTo>
                  <a:close/>
                </a:path>
                <a:path w="920115" h="128269">
                  <a:moveTo>
                    <a:pt x="919543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919543" y="11430"/>
                  </a:lnTo>
                  <a:lnTo>
                    <a:pt x="919543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17552" y="547115"/>
              <a:ext cx="73150" cy="762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2367260" y="611123"/>
              <a:ext cx="173990" cy="362585"/>
            </a:xfrm>
            <a:custGeom>
              <a:avLst/>
              <a:gdLst/>
              <a:ahLst/>
              <a:cxnLst/>
              <a:rect l="l" t="t" r="r" b="b"/>
              <a:pathLst>
                <a:path w="173990" h="362584">
                  <a:moveTo>
                    <a:pt x="17525" y="0"/>
                  </a:moveTo>
                  <a:lnTo>
                    <a:pt x="12446" y="3809"/>
                  </a:lnTo>
                  <a:lnTo>
                    <a:pt x="3429" y="16764"/>
                  </a:lnTo>
                  <a:lnTo>
                    <a:pt x="0" y="41148"/>
                  </a:lnTo>
                  <a:lnTo>
                    <a:pt x="11430" y="79121"/>
                  </a:lnTo>
                  <a:lnTo>
                    <a:pt x="34036" y="115570"/>
                  </a:lnTo>
                  <a:lnTo>
                    <a:pt x="42545" y="148335"/>
                  </a:lnTo>
                  <a:lnTo>
                    <a:pt x="43053" y="171957"/>
                  </a:lnTo>
                  <a:lnTo>
                    <a:pt x="41910" y="181101"/>
                  </a:lnTo>
                  <a:lnTo>
                    <a:pt x="31623" y="173990"/>
                  </a:lnTo>
                  <a:lnTo>
                    <a:pt x="24638" y="160274"/>
                  </a:lnTo>
                  <a:lnTo>
                    <a:pt x="20447" y="146939"/>
                  </a:lnTo>
                  <a:lnTo>
                    <a:pt x="19176" y="140970"/>
                  </a:lnTo>
                  <a:lnTo>
                    <a:pt x="15621" y="146939"/>
                  </a:lnTo>
                  <a:lnTo>
                    <a:pt x="9271" y="163195"/>
                  </a:lnTo>
                  <a:lnTo>
                    <a:pt x="6604" y="187071"/>
                  </a:lnTo>
                  <a:lnTo>
                    <a:pt x="14224" y="215900"/>
                  </a:lnTo>
                  <a:lnTo>
                    <a:pt x="47371" y="257301"/>
                  </a:lnTo>
                  <a:lnTo>
                    <a:pt x="74422" y="305689"/>
                  </a:lnTo>
                  <a:lnTo>
                    <a:pt x="92583" y="345821"/>
                  </a:lnTo>
                  <a:lnTo>
                    <a:pt x="99187" y="362584"/>
                  </a:lnTo>
                  <a:lnTo>
                    <a:pt x="133858" y="326390"/>
                  </a:lnTo>
                  <a:lnTo>
                    <a:pt x="150114" y="280543"/>
                  </a:lnTo>
                  <a:lnTo>
                    <a:pt x="152400" y="232282"/>
                  </a:lnTo>
                  <a:lnTo>
                    <a:pt x="145034" y="188595"/>
                  </a:lnTo>
                  <a:lnTo>
                    <a:pt x="132080" y="156845"/>
                  </a:lnTo>
                  <a:lnTo>
                    <a:pt x="114808" y="173481"/>
                  </a:lnTo>
                  <a:lnTo>
                    <a:pt x="99314" y="178943"/>
                  </a:lnTo>
                  <a:lnTo>
                    <a:pt x="88265" y="178434"/>
                  </a:lnTo>
                  <a:lnTo>
                    <a:pt x="84074" y="177165"/>
                  </a:lnTo>
                  <a:lnTo>
                    <a:pt x="89281" y="172084"/>
                  </a:lnTo>
                  <a:lnTo>
                    <a:pt x="102616" y="158369"/>
                  </a:lnTo>
                  <a:lnTo>
                    <a:pt x="139446" y="114934"/>
                  </a:lnTo>
                  <a:lnTo>
                    <a:pt x="165735" y="56642"/>
                  </a:lnTo>
                  <a:lnTo>
                    <a:pt x="173609" y="22986"/>
                  </a:lnTo>
                  <a:lnTo>
                    <a:pt x="168275" y="25653"/>
                  </a:lnTo>
                  <a:lnTo>
                    <a:pt x="152400" y="30987"/>
                  </a:lnTo>
                  <a:lnTo>
                    <a:pt x="125857" y="34798"/>
                  </a:lnTo>
                  <a:lnTo>
                    <a:pt x="89154" y="33020"/>
                  </a:lnTo>
                  <a:lnTo>
                    <a:pt x="54356" y="24510"/>
                  </a:lnTo>
                  <a:lnTo>
                    <a:pt x="32385" y="13589"/>
                  </a:lnTo>
                  <a:lnTo>
                    <a:pt x="20828" y="4064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752576" y="449580"/>
            <a:ext cx="368807" cy="6309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301" y="552195"/>
            <a:ext cx="609917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  <a:buClrTx/>
              <a:buSzTx/>
              <a:buFontTx/>
              <a:tabLst>
                <a:tab pos="1859280" algn="l"/>
                <a:tab pos="4241800" algn="l"/>
              </a:tabLst>
            </a:pPr>
            <a:r>
              <a:rPr lang="en-IN" sz="2800" spc="95" dirty="0"/>
              <a:t>Other Glossary</a:t>
            </a:r>
            <a:endParaRPr lang="en-IN" sz="2800" spc="95" dirty="0"/>
          </a:p>
        </p:txBody>
      </p:sp>
      <p:sp>
        <p:nvSpPr>
          <p:cNvPr id="3" name="object 3"/>
          <p:cNvSpPr/>
          <p:nvPr/>
        </p:nvSpPr>
        <p:spPr>
          <a:xfrm>
            <a:off x="0" y="548627"/>
            <a:ext cx="283845" cy="436245"/>
          </a:xfrm>
          <a:custGeom>
            <a:avLst/>
            <a:gdLst/>
            <a:ahLst/>
            <a:cxnLst/>
            <a:rect l="l" t="t" r="r" b="b"/>
            <a:pathLst>
              <a:path w="283845" h="436244">
                <a:moveTo>
                  <a:pt x="283286" y="0"/>
                </a:moveTo>
                <a:lnTo>
                  <a:pt x="0" y="0"/>
                </a:lnTo>
                <a:lnTo>
                  <a:pt x="0" y="435622"/>
                </a:lnTo>
                <a:lnTo>
                  <a:pt x="283286" y="435622"/>
                </a:lnTo>
                <a:lnTo>
                  <a:pt x="283286" y="0"/>
                </a:lnTo>
                <a:close/>
              </a:path>
            </a:pathLst>
          </a:custGeom>
          <a:solidFill>
            <a:srgbClr val="374E8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/>
          <p:cNvGrpSpPr/>
          <p:nvPr/>
        </p:nvGrpSpPr>
        <p:grpSpPr>
          <a:xfrm>
            <a:off x="12240768" y="467868"/>
            <a:ext cx="1371600" cy="527685"/>
            <a:chOff x="12240768" y="467868"/>
            <a:chExt cx="1371600" cy="527685"/>
          </a:xfrm>
        </p:grpSpPr>
        <p:pic>
          <p:nvPicPr>
            <p:cNvPr id="46" name="object 46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697968" y="473964"/>
              <a:ext cx="914400" cy="38709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2240768" y="467868"/>
              <a:ext cx="421005" cy="200025"/>
            </a:xfrm>
            <a:custGeom>
              <a:avLst/>
              <a:gdLst/>
              <a:ahLst/>
              <a:cxnLst/>
              <a:rect l="l" t="t" r="r" b="b"/>
              <a:pathLst>
                <a:path w="421004" h="200025">
                  <a:moveTo>
                    <a:pt x="210438" y="0"/>
                  </a:moveTo>
                  <a:lnTo>
                    <a:pt x="105663" y="82803"/>
                  </a:lnTo>
                  <a:lnTo>
                    <a:pt x="33274" y="139446"/>
                  </a:lnTo>
                  <a:lnTo>
                    <a:pt x="0" y="164591"/>
                  </a:lnTo>
                  <a:lnTo>
                    <a:pt x="26288" y="197738"/>
                  </a:lnTo>
                  <a:lnTo>
                    <a:pt x="210438" y="25146"/>
                  </a:lnTo>
                  <a:lnTo>
                    <a:pt x="394588" y="200025"/>
                  </a:lnTo>
                  <a:lnTo>
                    <a:pt x="420877" y="164591"/>
                  </a:lnTo>
                  <a:lnTo>
                    <a:pt x="210438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8382" y="888745"/>
              <a:ext cx="892556" cy="9067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2691237" y="867028"/>
              <a:ext cx="920115" cy="128270"/>
            </a:xfrm>
            <a:custGeom>
              <a:avLst/>
              <a:gdLst/>
              <a:ahLst/>
              <a:cxnLst/>
              <a:rect l="l" t="t" r="r" b="b"/>
              <a:pathLst>
                <a:path w="920115" h="128269">
                  <a:moveTo>
                    <a:pt x="919543" y="116713"/>
                  </a:moveTo>
                  <a:lnTo>
                    <a:pt x="0" y="116713"/>
                  </a:lnTo>
                  <a:lnTo>
                    <a:pt x="0" y="128143"/>
                  </a:lnTo>
                  <a:lnTo>
                    <a:pt x="919543" y="128143"/>
                  </a:lnTo>
                  <a:lnTo>
                    <a:pt x="919543" y="116713"/>
                  </a:lnTo>
                  <a:close/>
                </a:path>
                <a:path w="920115" h="128269">
                  <a:moveTo>
                    <a:pt x="919543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919543" y="11430"/>
                  </a:lnTo>
                  <a:lnTo>
                    <a:pt x="919543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17552" y="547115"/>
              <a:ext cx="73150" cy="762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12367260" y="611123"/>
              <a:ext cx="173990" cy="362585"/>
            </a:xfrm>
            <a:custGeom>
              <a:avLst/>
              <a:gdLst/>
              <a:ahLst/>
              <a:cxnLst/>
              <a:rect l="l" t="t" r="r" b="b"/>
              <a:pathLst>
                <a:path w="173990" h="362584">
                  <a:moveTo>
                    <a:pt x="17525" y="0"/>
                  </a:moveTo>
                  <a:lnTo>
                    <a:pt x="12446" y="3809"/>
                  </a:lnTo>
                  <a:lnTo>
                    <a:pt x="3429" y="16764"/>
                  </a:lnTo>
                  <a:lnTo>
                    <a:pt x="0" y="41148"/>
                  </a:lnTo>
                  <a:lnTo>
                    <a:pt x="11430" y="79121"/>
                  </a:lnTo>
                  <a:lnTo>
                    <a:pt x="34036" y="115570"/>
                  </a:lnTo>
                  <a:lnTo>
                    <a:pt x="42545" y="148335"/>
                  </a:lnTo>
                  <a:lnTo>
                    <a:pt x="43053" y="171957"/>
                  </a:lnTo>
                  <a:lnTo>
                    <a:pt x="41910" y="181101"/>
                  </a:lnTo>
                  <a:lnTo>
                    <a:pt x="31623" y="173990"/>
                  </a:lnTo>
                  <a:lnTo>
                    <a:pt x="24638" y="160274"/>
                  </a:lnTo>
                  <a:lnTo>
                    <a:pt x="20447" y="146939"/>
                  </a:lnTo>
                  <a:lnTo>
                    <a:pt x="19176" y="140970"/>
                  </a:lnTo>
                  <a:lnTo>
                    <a:pt x="15621" y="146939"/>
                  </a:lnTo>
                  <a:lnTo>
                    <a:pt x="9271" y="163195"/>
                  </a:lnTo>
                  <a:lnTo>
                    <a:pt x="6604" y="187071"/>
                  </a:lnTo>
                  <a:lnTo>
                    <a:pt x="14224" y="215900"/>
                  </a:lnTo>
                  <a:lnTo>
                    <a:pt x="47371" y="257301"/>
                  </a:lnTo>
                  <a:lnTo>
                    <a:pt x="74422" y="305689"/>
                  </a:lnTo>
                  <a:lnTo>
                    <a:pt x="92583" y="345821"/>
                  </a:lnTo>
                  <a:lnTo>
                    <a:pt x="99187" y="362584"/>
                  </a:lnTo>
                  <a:lnTo>
                    <a:pt x="133858" y="326390"/>
                  </a:lnTo>
                  <a:lnTo>
                    <a:pt x="150114" y="280543"/>
                  </a:lnTo>
                  <a:lnTo>
                    <a:pt x="152400" y="232282"/>
                  </a:lnTo>
                  <a:lnTo>
                    <a:pt x="145034" y="188595"/>
                  </a:lnTo>
                  <a:lnTo>
                    <a:pt x="132080" y="156845"/>
                  </a:lnTo>
                  <a:lnTo>
                    <a:pt x="114808" y="173481"/>
                  </a:lnTo>
                  <a:lnTo>
                    <a:pt x="99314" y="178943"/>
                  </a:lnTo>
                  <a:lnTo>
                    <a:pt x="88265" y="178434"/>
                  </a:lnTo>
                  <a:lnTo>
                    <a:pt x="84074" y="177165"/>
                  </a:lnTo>
                  <a:lnTo>
                    <a:pt x="89281" y="172084"/>
                  </a:lnTo>
                  <a:lnTo>
                    <a:pt x="102616" y="158369"/>
                  </a:lnTo>
                  <a:lnTo>
                    <a:pt x="139446" y="114934"/>
                  </a:lnTo>
                  <a:lnTo>
                    <a:pt x="165735" y="56642"/>
                  </a:lnTo>
                  <a:lnTo>
                    <a:pt x="173609" y="22986"/>
                  </a:lnTo>
                  <a:lnTo>
                    <a:pt x="168275" y="25653"/>
                  </a:lnTo>
                  <a:lnTo>
                    <a:pt x="152400" y="30987"/>
                  </a:lnTo>
                  <a:lnTo>
                    <a:pt x="125857" y="34798"/>
                  </a:lnTo>
                  <a:lnTo>
                    <a:pt x="89154" y="33020"/>
                  </a:lnTo>
                  <a:lnTo>
                    <a:pt x="54356" y="24510"/>
                  </a:lnTo>
                  <a:lnTo>
                    <a:pt x="32385" y="13589"/>
                  </a:lnTo>
                  <a:lnTo>
                    <a:pt x="20828" y="4064"/>
                  </a:lnTo>
                  <a:lnTo>
                    <a:pt x="17525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2" name="object 5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52576" y="449580"/>
            <a:ext cx="368807" cy="630935"/>
          </a:xfrm>
          <a:prstGeom prst="rect">
            <a:avLst/>
          </a:prstGeom>
        </p:spPr>
      </p:pic>
      <p:graphicFrame>
        <p:nvGraphicFramePr>
          <p:cNvPr id="4" name="Table 3"/>
          <p:cNvGraphicFramePr/>
          <p:nvPr>
            <p:custDataLst>
              <p:tags r:id="rId5"/>
            </p:custDataLst>
          </p:nvPr>
        </p:nvGraphicFramePr>
        <p:xfrm>
          <a:off x="4876800" y="76200"/>
          <a:ext cx="6782435" cy="7908290"/>
        </p:xfrm>
        <a:graphic>
          <a:graphicData uri="http://schemas.openxmlformats.org/drawingml/2006/table">
            <a:tbl>
              <a:tblPr/>
              <a:tblGrid>
                <a:gridCol w="1242060"/>
                <a:gridCol w="5540375"/>
              </a:tblGrid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Term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8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Full Form</a:t>
                      </a:r>
                      <a:endParaRPr lang="en-US" altLang="zh-CN" sz="18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1F5F"/>
                    </a:solidFill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BM FI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Branch Manager Field Investigation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 FI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Center Officer Field Investigation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EUV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User Verification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Field Investigation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GET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Group Eligibility Test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GFM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Group Formation Meeting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MGT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Mandatory Group Training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CB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Credit Bureau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CIBIL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Credit Indian Bureau Information India Limited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 off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Compensatory Off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CPF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Customer Profile Form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CPP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Credit Plus Product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EMI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Equal Monthly Installment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ENACH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Electronic National Automated Clearing House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EPF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Employee Provident Fund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EPS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Employee Pension Scheme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ESIC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Employee State Insurance Corporation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GLP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Gross Loan Portfolio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GMC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Group Medical Coverage Policy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GPA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D0D0D"/>
                          </a:solidFill>
                          <a:latin typeface="Calibri" panose="020F0502020204030204"/>
                          <a:ea typeface="Calibri" panose="020F0502020204030204"/>
                        </a:rPr>
                        <a:t>Group Personal Accident Policy</a:t>
                      </a:r>
                      <a:endParaRPr lang="en-US" altLang="zh-CN" sz="1400" b="0" i="0">
                        <a:solidFill>
                          <a:srgbClr val="0D0D0D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GST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1F1F1F"/>
                          </a:solidFill>
                          <a:latin typeface="Calibri" panose="020F0502020204030204"/>
                          <a:ea typeface="Calibri" panose="020F0502020204030204"/>
                        </a:rPr>
                        <a:t>Goods and Service Tax</a:t>
                      </a:r>
                      <a:endParaRPr lang="en-US" altLang="zh-CN" sz="1400" b="0" i="0">
                        <a:solidFill>
                          <a:srgbClr val="1F1F1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Introduction Meeting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KPI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Performance Indicator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KRA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Responsible Areas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KYC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Know Your Customer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LMS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Loan Management System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LOP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Loss of Pay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LPF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Loan Processing Fees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MSME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Micro Small and Medium Enterprises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OSV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Original Seen &amp; Verified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PD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Personal Discussion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SHG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Self Help Group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p>
                      <a:pPr algn="ctr" fontAlgn="t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TAT</a:t>
                      </a:r>
                      <a:endParaRPr lang="en-US" altLang="zh-CN" sz="1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Turn Around Time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6667" marR="6667" marT="6667" marB="0" anchor="t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66050" y="3814394"/>
            <a:ext cx="47745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45" dirty="0">
                <a:solidFill>
                  <a:srgbClr val="FFFFFF"/>
                </a:solidFill>
              </a:rPr>
              <a:t>Thank</a:t>
            </a:r>
            <a:r>
              <a:rPr sz="7200" spc="434" dirty="0">
                <a:solidFill>
                  <a:srgbClr val="FFFFFF"/>
                </a:solidFill>
              </a:rPr>
              <a:t> </a:t>
            </a:r>
            <a:r>
              <a:rPr sz="7200" spc="-300" dirty="0">
                <a:solidFill>
                  <a:srgbClr val="FFFFFF"/>
                </a:solidFill>
              </a:rPr>
              <a:t>Y</a:t>
            </a:r>
            <a:r>
              <a:rPr sz="7200" spc="210" dirty="0">
                <a:solidFill>
                  <a:srgbClr val="FFFFFF"/>
                </a:solidFill>
              </a:rPr>
              <a:t>o</a:t>
            </a:r>
            <a:r>
              <a:rPr sz="7200" spc="5" dirty="0">
                <a:solidFill>
                  <a:srgbClr val="FFFFFF"/>
                </a:solidFill>
              </a:rPr>
              <a:t>u</a:t>
            </a:r>
            <a:endParaRPr sz="7200"/>
          </a:p>
        </p:txBody>
      </p:sp>
      <p:grpSp>
        <p:nvGrpSpPr>
          <p:cNvPr id="3" name="object 3"/>
          <p:cNvGrpSpPr/>
          <p:nvPr/>
        </p:nvGrpSpPr>
        <p:grpSpPr>
          <a:xfrm>
            <a:off x="445008" y="149352"/>
            <a:ext cx="13350240" cy="1438910"/>
            <a:chOff x="445008" y="149352"/>
            <a:chExt cx="13350240" cy="1438910"/>
          </a:xfrm>
        </p:grpSpPr>
        <p:sp>
          <p:nvSpPr>
            <p:cNvPr id="4" name="object 4"/>
            <p:cNvSpPr/>
            <p:nvPr/>
          </p:nvSpPr>
          <p:spPr>
            <a:xfrm>
              <a:off x="11725656" y="408431"/>
              <a:ext cx="594360" cy="868680"/>
            </a:xfrm>
            <a:custGeom>
              <a:avLst/>
              <a:gdLst/>
              <a:ahLst/>
              <a:cxnLst/>
              <a:rect l="l" t="t" r="r" b="b"/>
              <a:pathLst>
                <a:path w="594359" h="868680">
                  <a:moveTo>
                    <a:pt x="418846" y="713105"/>
                  </a:moveTo>
                  <a:lnTo>
                    <a:pt x="412877" y="672338"/>
                  </a:lnTo>
                  <a:lnTo>
                    <a:pt x="395351" y="641985"/>
                  </a:lnTo>
                  <a:lnTo>
                    <a:pt x="366395" y="622808"/>
                  </a:lnTo>
                  <a:lnTo>
                    <a:pt x="326517" y="616077"/>
                  </a:lnTo>
                  <a:lnTo>
                    <a:pt x="303530" y="618617"/>
                  </a:lnTo>
                  <a:lnTo>
                    <a:pt x="282194" y="626491"/>
                  </a:lnTo>
                  <a:lnTo>
                    <a:pt x="260096" y="640334"/>
                  </a:lnTo>
                  <a:lnTo>
                    <a:pt x="235458" y="660654"/>
                  </a:lnTo>
                  <a:lnTo>
                    <a:pt x="233045" y="657352"/>
                  </a:lnTo>
                  <a:lnTo>
                    <a:pt x="200787" y="626618"/>
                  </a:lnTo>
                  <a:lnTo>
                    <a:pt x="154305" y="616077"/>
                  </a:lnTo>
                  <a:lnTo>
                    <a:pt x="132715" y="618236"/>
                  </a:lnTo>
                  <a:lnTo>
                    <a:pt x="112522" y="624967"/>
                  </a:lnTo>
                  <a:lnTo>
                    <a:pt x="92710" y="636651"/>
                  </a:lnTo>
                  <a:lnTo>
                    <a:pt x="71755" y="653542"/>
                  </a:lnTo>
                  <a:lnTo>
                    <a:pt x="71755" y="621030"/>
                  </a:lnTo>
                  <a:lnTo>
                    <a:pt x="17653" y="621030"/>
                  </a:lnTo>
                  <a:lnTo>
                    <a:pt x="17653" y="868426"/>
                  </a:lnTo>
                  <a:lnTo>
                    <a:pt x="71755" y="868426"/>
                  </a:lnTo>
                  <a:lnTo>
                    <a:pt x="71755" y="688848"/>
                  </a:lnTo>
                  <a:lnTo>
                    <a:pt x="85979" y="675767"/>
                  </a:lnTo>
                  <a:lnTo>
                    <a:pt x="101473" y="665861"/>
                  </a:lnTo>
                  <a:lnTo>
                    <a:pt x="118237" y="659638"/>
                  </a:lnTo>
                  <a:lnTo>
                    <a:pt x="137033" y="657352"/>
                  </a:lnTo>
                  <a:lnTo>
                    <a:pt x="161036" y="661035"/>
                  </a:lnTo>
                  <a:lnTo>
                    <a:pt x="177927" y="672465"/>
                  </a:lnTo>
                  <a:lnTo>
                    <a:pt x="187833" y="692023"/>
                  </a:lnTo>
                  <a:lnTo>
                    <a:pt x="191135" y="720344"/>
                  </a:lnTo>
                  <a:lnTo>
                    <a:pt x="191135" y="868426"/>
                  </a:lnTo>
                  <a:lnTo>
                    <a:pt x="245364" y="868426"/>
                  </a:lnTo>
                  <a:lnTo>
                    <a:pt x="245364" y="688848"/>
                  </a:lnTo>
                  <a:lnTo>
                    <a:pt x="259969" y="675640"/>
                  </a:lnTo>
                  <a:lnTo>
                    <a:pt x="275971" y="665988"/>
                  </a:lnTo>
                  <a:lnTo>
                    <a:pt x="292100" y="660019"/>
                  </a:lnTo>
                  <a:lnTo>
                    <a:pt x="307467" y="657987"/>
                  </a:lnTo>
                  <a:lnTo>
                    <a:pt x="331724" y="661797"/>
                  </a:lnTo>
                  <a:lnTo>
                    <a:pt x="349758" y="673227"/>
                  </a:lnTo>
                  <a:lnTo>
                    <a:pt x="360807" y="691642"/>
                  </a:lnTo>
                  <a:lnTo>
                    <a:pt x="364617" y="716915"/>
                  </a:lnTo>
                  <a:lnTo>
                    <a:pt x="364617" y="868426"/>
                  </a:lnTo>
                  <a:lnTo>
                    <a:pt x="418846" y="868426"/>
                  </a:lnTo>
                  <a:lnTo>
                    <a:pt x="418846" y="713105"/>
                  </a:lnTo>
                  <a:close/>
                </a:path>
                <a:path w="594359" h="868680">
                  <a:moveTo>
                    <a:pt x="439039" y="0"/>
                  </a:moveTo>
                  <a:lnTo>
                    <a:pt x="382651" y="0"/>
                  </a:lnTo>
                  <a:lnTo>
                    <a:pt x="219456" y="189738"/>
                  </a:lnTo>
                  <a:lnTo>
                    <a:pt x="56388" y="0"/>
                  </a:lnTo>
                  <a:lnTo>
                    <a:pt x="0" y="0"/>
                  </a:lnTo>
                  <a:lnTo>
                    <a:pt x="0" y="451612"/>
                  </a:lnTo>
                  <a:lnTo>
                    <a:pt x="62992" y="451612"/>
                  </a:lnTo>
                  <a:lnTo>
                    <a:pt x="62992" y="99060"/>
                  </a:lnTo>
                  <a:lnTo>
                    <a:pt x="219456" y="281051"/>
                  </a:lnTo>
                  <a:lnTo>
                    <a:pt x="376047" y="99060"/>
                  </a:lnTo>
                  <a:lnTo>
                    <a:pt x="376047" y="451612"/>
                  </a:lnTo>
                  <a:lnTo>
                    <a:pt x="439039" y="451612"/>
                  </a:lnTo>
                  <a:lnTo>
                    <a:pt x="439039" y="0"/>
                  </a:lnTo>
                  <a:close/>
                </a:path>
                <a:path w="594359" h="868680">
                  <a:moveTo>
                    <a:pt x="560857" y="621017"/>
                  </a:moveTo>
                  <a:lnTo>
                    <a:pt x="506095" y="621017"/>
                  </a:lnTo>
                  <a:lnTo>
                    <a:pt x="506095" y="868426"/>
                  </a:lnTo>
                  <a:lnTo>
                    <a:pt x="560857" y="868426"/>
                  </a:lnTo>
                  <a:lnTo>
                    <a:pt x="560857" y="621017"/>
                  </a:lnTo>
                  <a:close/>
                </a:path>
                <a:path w="594359" h="868680">
                  <a:moveTo>
                    <a:pt x="565785" y="545592"/>
                  </a:moveTo>
                  <a:lnTo>
                    <a:pt x="563118" y="534670"/>
                  </a:lnTo>
                  <a:lnTo>
                    <a:pt x="556133" y="525526"/>
                  </a:lnTo>
                  <a:lnTo>
                    <a:pt x="545719" y="519176"/>
                  </a:lnTo>
                  <a:lnTo>
                    <a:pt x="533146" y="516890"/>
                  </a:lnTo>
                  <a:lnTo>
                    <a:pt x="520319" y="519430"/>
                  </a:lnTo>
                  <a:lnTo>
                    <a:pt x="510286" y="525907"/>
                  </a:lnTo>
                  <a:lnTo>
                    <a:pt x="503428" y="535051"/>
                  </a:lnTo>
                  <a:lnTo>
                    <a:pt x="501142" y="545592"/>
                  </a:lnTo>
                  <a:lnTo>
                    <a:pt x="503428" y="556260"/>
                  </a:lnTo>
                  <a:lnTo>
                    <a:pt x="510286" y="565531"/>
                  </a:lnTo>
                  <a:lnTo>
                    <a:pt x="520319" y="572135"/>
                  </a:lnTo>
                  <a:lnTo>
                    <a:pt x="533146" y="574675"/>
                  </a:lnTo>
                  <a:lnTo>
                    <a:pt x="545719" y="572389"/>
                  </a:lnTo>
                  <a:lnTo>
                    <a:pt x="556133" y="565912"/>
                  </a:lnTo>
                  <a:lnTo>
                    <a:pt x="563118" y="556768"/>
                  </a:lnTo>
                  <a:lnTo>
                    <a:pt x="565785" y="545592"/>
                  </a:lnTo>
                  <a:close/>
                </a:path>
                <a:path w="594359" h="868680">
                  <a:moveTo>
                    <a:pt x="593979" y="153403"/>
                  </a:moveTo>
                  <a:lnTo>
                    <a:pt x="534289" y="153403"/>
                  </a:lnTo>
                  <a:lnTo>
                    <a:pt x="534289" y="451612"/>
                  </a:lnTo>
                  <a:lnTo>
                    <a:pt x="593979" y="451612"/>
                  </a:lnTo>
                  <a:lnTo>
                    <a:pt x="593979" y="153403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2256008" y="438911"/>
              <a:ext cx="67054" cy="701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356592" y="408380"/>
              <a:ext cx="457200" cy="876300"/>
            </a:xfrm>
            <a:custGeom>
              <a:avLst/>
              <a:gdLst/>
              <a:ahLst/>
              <a:cxnLst/>
              <a:rect l="l" t="t" r="r" b="b"/>
              <a:pathLst>
                <a:path w="457200" h="876300">
                  <a:moveTo>
                    <a:pt x="222504" y="812723"/>
                  </a:moveTo>
                  <a:lnTo>
                    <a:pt x="206121" y="819200"/>
                  </a:lnTo>
                  <a:lnTo>
                    <a:pt x="188976" y="824407"/>
                  </a:lnTo>
                  <a:lnTo>
                    <a:pt x="170561" y="828090"/>
                  </a:lnTo>
                  <a:lnTo>
                    <a:pt x="149987" y="829487"/>
                  </a:lnTo>
                  <a:lnTo>
                    <a:pt x="104140" y="821486"/>
                  </a:lnTo>
                  <a:lnTo>
                    <a:pt x="75311" y="801166"/>
                  </a:lnTo>
                  <a:lnTo>
                    <a:pt x="60325" y="774369"/>
                  </a:lnTo>
                  <a:lnTo>
                    <a:pt x="56007" y="746556"/>
                  </a:lnTo>
                  <a:lnTo>
                    <a:pt x="61341" y="716203"/>
                  </a:lnTo>
                  <a:lnTo>
                    <a:pt x="77216" y="689914"/>
                  </a:lnTo>
                  <a:lnTo>
                    <a:pt x="103378" y="671372"/>
                  </a:lnTo>
                  <a:lnTo>
                    <a:pt x="139573" y="664260"/>
                  </a:lnTo>
                  <a:lnTo>
                    <a:pt x="158877" y="665530"/>
                  </a:lnTo>
                  <a:lnTo>
                    <a:pt x="177546" y="669721"/>
                  </a:lnTo>
                  <a:lnTo>
                    <a:pt x="196469" y="676833"/>
                  </a:lnTo>
                  <a:lnTo>
                    <a:pt x="216408" y="687501"/>
                  </a:lnTo>
                  <a:lnTo>
                    <a:pt x="216408" y="664260"/>
                  </a:lnTo>
                  <a:lnTo>
                    <a:pt x="194310" y="626922"/>
                  </a:lnTo>
                  <a:lnTo>
                    <a:pt x="155194" y="618667"/>
                  </a:lnTo>
                  <a:lnTo>
                    <a:pt x="135763" y="617778"/>
                  </a:lnTo>
                  <a:lnTo>
                    <a:pt x="91440" y="623747"/>
                  </a:lnTo>
                  <a:lnTo>
                    <a:pt x="54102" y="640892"/>
                  </a:lnTo>
                  <a:lnTo>
                    <a:pt x="25146" y="668197"/>
                  </a:lnTo>
                  <a:lnTo>
                    <a:pt x="6477" y="705027"/>
                  </a:lnTo>
                  <a:lnTo>
                    <a:pt x="0" y="750366"/>
                  </a:lnTo>
                  <a:lnTo>
                    <a:pt x="4572" y="784021"/>
                  </a:lnTo>
                  <a:lnTo>
                    <a:pt x="19304" y="817676"/>
                  </a:lnTo>
                  <a:lnTo>
                    <a:pt x="46101" y="847140"/>
                  </a:lnTo>
                  <a:lnTo>
                    <a:pt x="86360" y="867841"/>
                  </a:lnTo>
                  <a:lnTo>
                    <a:pt x="142113" y="875715"/>
                  </a:lnTo>
                  <a:lnTo>
                    <a:pt x="162306" y="874826"/>
                  </a:lnTo>
                  <a:lnTo>
                    <a:pt x="182499" y="872159"/>
                  </a:lnTo>
                  <a:lnTo>
                    <a:pt x="202565" y="867587"/>
                  </a:lnTo>
                  <a:lnTo>
                    <a:pt x="222504" y="861491"/>
                  </a:lnTo>
                  <a:lnTo>
                    <a:pt x="222504" y="812723"/>
                  </a:lnTo>
                  <a:close/>
                </a:path>
                <a:path w="457200" h="876300">
                  <a:moveTo>
                    <a:pt x="311404" y="50"/>
                  </a:moveTo>
                  <a:lnTo>
                    <a:pt x="251841" y="50"/>
                  </a:lnTo>
                  <a:lnTo>
                    <a:pt x="251841" y="170484"/>
                  </a:lnTo>
                  <a:lnTo>
                    <a:pt x="251841" y="218236"/>
                  </a:lnTo>
                  <a:lnTo>
                    <a:pt x="251841" y="386384"/>
                  </a:lnTo>
                  <a:lnTo>
                    <a:pt x="244602" y="391337"/>
                  </a:lnTo>
                  <a:lnTo>
                    <a:pt x="206248" y="405942"/>
                  </a:lnTo>
                  <a:lnTo>
                    <a:pt x="189484" y="407085"/>
                  </a:lnTo>
                  <a:lnTo>
                    <a:pt x="167894" y="405434"/>
                  </a:lnTo>
                  <a:lnTo>
                    <a:pt x="131826" y="391337"/>
                  </a:lnTo>
                  <a:lnTo>
                    <a:pt x="98044" y="345744"/>
                  </a:lnTo>
                  <a:lnTo>
                    <a:pt x="91440" y="302310"/>
                  </a:lnTo>
                  <a:lnTo>
                    <a:pt x="93091" y="279069"/>
                  </a:lnTo>
                  <a:lnTo>
                    <a:pt x="106172" y="240842"/>
                  </a:lnTo>
                  <a:lnTo>
                    <a:pt x="148717" y="204647"/>
                  </a:lnTo>
                  <a:lnTo>
                    <a:pt x="189484" y="197662"/>
                  </a:lnTo>
                  <a:lnTo>
                    <a:pt x="197993" y="197916"/>
                  </a:lnTo>
                  <a:lnTo>
                    <a:pt x="237236" y="209092"/>
                  </a:lnTo>
                  <a:lnTo>
                    <a:pt x="251841" y="218236"/>
                  </a:lnTo>
                  <a:lnTo>
                    <a:pt x="251841" y="170484"/>
                  </a:lnTo>
                  <a:lnTo>
                    <a:pt x="215900" y="152958"/>
                  </a:lnTo>
                  <a:lnTo>
                    <a:pt x="174371" y="147243"/>
                  </a:lnTo>
                  <a:lnTo>
                    <a:pt x="143510" y="150037"/>
                  </a:lnTo>
                  <a:lnTo>
                    <a:pt x="90678" y="171754"/>
                  </a:lnTo>
                  <a:lnTo>
                    <a:pt x="50800" y="214045"/>
                  </a:lnTo>
                  <a:lnTo>
                    <a:pt x="30353" y="270179"/>
                  </a:lnTo>
                  <a:lnTo>
                    <a:pt x="27813" y="303199"/>
                  </a:lnTo>
                  <a:lnTo>
                    <a:pt x="30353" y="335838"/>
                  </a:lnTo>
                  <a:lnTo>
                    <a:pt x="50800" y="392099"/>
                  </a:lnTo>
                  <a:lnTo>
                    <a:pt x="90678" y="434390"/>
                  </a:lnTo>
                  <a:lnTo>
                    <a:pt x="143510" y="456107"/>
                  </a:lnTo>
                  <a:lnTo>
                    <a:pt x="174371" y="458774"/>
                  </a:lnTo>
                  <a:lnTo>
                    <a:pt x="185674" y="458393"/>
                  </a:lnTo>
                  <a:lnTo>
                    <a:pt x="225806" y="450138"/>
                  </a:lnTo>
                  <a:lnTo>
                    <a:pt x="251841" y="436295"/>
                  </a:lnTo>
                  <a:lnTo>
                    <a:pt x="251841" y="452805"/>
                  </a:lnTo>
                  <a:lnTo>
                    <a:pt x="311404" y="452805"/>
                  </a:lnTo>
                  <a:lnTo>
                    <a:pt x="311404" y="436295"/>
                  </a:lnTo>
                  <a:lnTo>
                    <a:pt x="311404" y="407085"/>
                  </a:lnTo>
                  <a:lnTo>
                    <a:pt x="311404" y="50"/>
                  </a:lnTo>
                  <a:close/>
                </a:path>
                <a:path w="457200" h="876300">
                  <a:moveTo>
                    <a:pt x="456907" y="0"/>
                  </a:moveTo>
                  <a:lnTo>
                    <a:pt x="397256" y="0"/>
                  </a:lnTo>
                  <a:lnTo>
                    <a:pt x="397256" y="452805"/>
                  </a:lnTo>
                  <a:lnTo>
                    <a:pt x="456907" y="452805"/>
                  </a:lnTo>
                  <a:lnTo>
                    <a:pt x="456907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49200" y="1024127"/>
              <a:ext cx="201168" cy="2529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2871704" y="554735"/>
              <a:ext cx="597535" cy="728980"/>
            </a:xfrm>
            <a:custGeom>
              <a:avLst/>
              <a:gdLst/>
              <a:ahLst/>
              <a:cxnLst/>
              <a:rect l="l" t="t" r="r" b="b"/>
              <a:pathLst>
                <a:path w="597534" h="728980">
                  <a:moveTo>
                    <a:pt x="279400" y="246761"/>
                  </a:moveTo>
                  <a:lnTo>
                    <a:pt x="251955" y="263398"/>
                  </a:lnTo>
                  <a:lnTo>
                    <a:pt x="244094" y="263398"/>
                  </a:lnTo>
                  <a:lnTo>
                    <a:pt x="241173" y="261112"/>
                  </a:lnTo>
                  <a:lnTo>
                    <a:pt x="237363" y="252349"/>
                  </a:lnTo>
                  <a:lnTo>
                    <a:pt x="236474" y="244856"/>
                  </a:lnTo>
                  <a:lnTo>
                    <a:pt x="236347" y="105537"/>
                  </a:lnTo>
                  <a:lnTo>
                    <a:pt x="229997" y="58547"/>
                  </a:lnTo>
                  <a:lnTo>
                    <a:pt x="227838" y="54991"/>
                  </a:lnTo>
                  <a:lnTo>
                    <a:pt x="210426" y="25400"/>
                  </a:lnTo>
                  <a:lnTo>
                    <a:pt x="176276" y="6350"/>
                  </a:lnTo>
                  <a:lnTo>
                    <a:pt x="126746" y="0"/>
                  </a:lnTo>
                  <a:lnTo>
                    <a:pt x="110998" y="508"/>
                  </a:lnTo>
                  <a:lnTo>
                    <a:pt x="66294" y="9398"/>
                  </a:lnTo>
                  <a:lnTo>
                    <a:pt x="26924" y="28956"/>
                  </a:lnTo>
                  <a:lnTo>
                    <a:pt x="14986" y="37973"/>
                  </a:lnTo>
                  <a:lnTo>
                    <a:pt x="14986" y="96774"/>
                  </a:lnTo>
                  <a:lnTo>
                    <a:pt x="28321" y="86995"/>
                  </a:lnTo>
                  <a:lnTo>
                    <a:pt x="41529" y="78613"/>
                  </a:lnTo>
                  <a:lnTo>
                    <a:pt x="81153" y="60960"/>
                  </a:lnTo>
                  <a:lnTo>
                    <a:pt x="119380" y="54991"/>
                  </a:lnTo>
                  <a:lnTo>
                    <a:pt x="133350" y="55753"/>
                  </a:lnTo>
                  <a:lnTo>
                    <a:pt x="168275" y="73660"/>
                  </a:lnTo>
                  <a:lnTo>
                    <a:pt x="175628" y="105537"/>
                  </a:lnTo>
                  <a:lnTo>
                    <a:pt x="175501" y="111252"/>
                  </a:lnTo>
                  <a:lnTo>
                    <a:pt x="175006" y="118110"/>
                  </a:lnTo>
                  <a:lnTo>
                    <a:pt x="175006" y="156464"/>
                  </a:lnTo>
                  <a:lnTo>
                    <a:pt x="175006" y="244221"/>
                  </a:lnTo>
                  <a:lnTo>
                    <a:pt x="167640" y="249428"/>
                  </a:lnTo>
                  <a:lnTo>
                    <a:pt x="129921" y="265303"/>
                  </a:lnTo>
                  <a:lnTo>
                    <a:pt x="114173" y="266700"/>
                  </a:lnTo>
                  <a:lnTo>
                    <a:pt x="104140" y="266065"/>
                  </a:lnTo>
                  <a:lnTo>
                    <a:pt x="72136" y="244475"/>
                  </a:lnTo>
                  <a:lnTo>
                    <a:pt x="69215" y="227965"/>
                  </a:lnTo>
                  <a:lnTo>
                    <a:pt x="70612" y="217805"/>
                  </a:lnTo>
                  <a:lnTo>
                    <a:pt x="105791" y="183134"/>
                  </a:lnTo>
                  <a:lnTo>
                    <a:pt x="147307" y="165608"/>
                  </a:lnTo>
                  <a:lnTo>
                    <a:pt x="175006" y="156464"/>
                  </a:lnTo>
                  <a:lnTo>
                    <a:pt x="175006" y="118110"/>
                  </a:lnTo>
                  <a:lnTo>
                    <a:pt x="104140" y="141859"/>
                  </a:lnTo>
                  <a:lnTo>
                    <a:pt x="60960" y="160147"/>
                  </a:lnTo>
                  <a:lnTo>
                    <a:pt x="19558" y="194818"/>
                  </a:lnTo>
                  <a:lnTo>
                    <a:pt x="5715" y="238252"/>
                  </a:lnTo>
                  <a:lnTo>
                    <a:pt x="7239" y="254127"/>
                  </a:lnTo>
                  <a:lnTo>
                    <a:pt x="28448" y="291211"/>
                  </a:lnTo>
                  <a:lnTo>
                    <a:pt x="72136" y="309245"/>
                  </a:lnTo>
                  <a:lnTo>
                    <a:pt x="91059" y="310515"/>
                  </a:lnTo>
                  <a:lnTo>
                    <a:pt x="99631" y="310134"/>
                  </a:lnTo>
                  <a:lnTo>
                    <a:pt x="101981" y="310134"/>
                  </a:lnTo>
                  <a:lnTo>
                    <a:pt x="144653" y="299466"/>
                  </a:lnTo>
                  <a:lnTo>
                    <a:pt x="177165" y="280543"/>
                  </a:lnTo>
                  <a:lnTo>
                    <a:pt x="178054" y="290957"/>
                  </a:lnTo>
                  <a:lnTo>
                    <a:pt x="212725" y="310515"/>
                  </a:lnTo>
                  <a:lnTo>
                    <a:pt x="221488" y="310134"/>
                  </a:lnTo>
                  <a:lnTo>
                    <a:pt x="263144" y="295275"/>
                  </a:lnTo>
                  <a:lnTo>
                    <a:pt x="279400" y="283210"/>
                  </a:lnTo>
                  <a:lnTo>
                    <a:pt x="279400" y="280543"/>
                  </a:lnTo>
                  <a:lnTo>
                    <a:pt x="279400" y="266700"/>
                  </a:lnTo>
                  <a:lnTo>
                    <a:pt x="279400" y="263398"/>
                  </a:lnTo>
                  <a:lnTo>
                    <a:pt x="279400" y="246761"/>
                  </a:lnTo>
                  <a:close/>
                </a:path>
                <a:path w="597534" h="728980">
                  <a:moveTo>
                    <a:pt x="294386" y="599694"/>
                  </a:moveTo>
                  <a:lnTo>
                    <a:pt x="287147" y="556514"/>
                  </a:lnTo>
                  <a:lnTo>
                    <a:pt x="266827" y="520700"/>
                  </a:lnTo>
                  <a:lnTo>
                    <a:pt x="238506" y="496138"/>
                  </a:lnTo>
                  <a:lnTo>
                    <a:pt x="238506" y="598690"/>
                  </a:lnTo>
                  <a:lnTo>
                    <a:pt x="238506" y="601078"/>
                  </a:lnTo>
                  <a:lnTo>
                    <a:pt x="238493" y="599694"/>
                  </a:lnTo>
                  <a:lnTo>
                    <a:pt x="232156" y="633222"/>
                  </a:lnTo>
                  <a:lnTo>
                    <a:pt x="213728" y="660146"/>
                  </a:lnTo>
                  <a:lnTo>
                    <a:pt x="185026" y="677926"/>
                  </a:lnTo>
                  <a:lnTo>
                    <a:pt x="147701" y="684276"/>
                  </a:lnTo>
                  <a:lnTo>
                    <a:pt x="111506" y="678561"/>
                  </a:lnTo>
                  <a:lnTo>
                    <a:pt x="82296" y="661924"/>
                  </a:lnTo>
                  <a:lnTo>
                    <a:pt x="62865" y="635381"/>
                  </a:lnTo>
                  <a:lnTo>
                    <a:pt x="55753" y="599694"/>
                  </a:lnTo>
                  <a:lnTo>
                    <a:pt x="62611" y="564261"/>
                  </a:lnTo>
                  <a:lnTo>
                    <a:pt x="81407" y="537464"/>
                  </a:lnTo>
                  <a:lnTo>
                    <a:pt x="109728" y="520446"/>
                  </a:lnTo>
                  <a:lnTo>
                    <a:pt x="144653" y="514604"/>
                  </a:lnTo>
                  <a:lnTo>
                    <a:pt x="179578" y="519557"/>
                  </a:lnTo>
                  <a:lnTo>
                    <a:pt x="209677" y="534924"/>
                  </a:lnTo>
                  <a:lnTo>
                    <a:pt x="230632" y="561213"/>
                  </a:lnTo>
                  <a:lnTo>
                    <a:pt x="238506" y="598690"/>
                  </a:lnTo>
                  <a:lnTo>
                    <a:pt x="238506" y="496138"/>
                  </a:lnTo>
                  <a:lnTo>
                    <a:pt x="237324" y="495046"/>
                  </a:lnTo>
                  <a:lnTo>
                    <a:pt x="235572" y="493522"/>
                  </a:lnTo>
                  <a:lnTo>
                    <a:pt x="195453" y="476377"/>
                  </a:lnTo>
                  <a:lnTo>
                    <a:pt x="148463" y="470281"/>
                  </a:lnTo>
                  <a:lnTo>
                    <a:pt x="98171" y="476885"/>
                  </a:lnTo>
                  <a:lnTo>
                    <a:pt x="56896" y="495046"/>
                  </a:lnTo>
                  <a:lnTo>
                    <a:pt x="26162" y="523240"/>
                  </a:lnTo>
                  <a:lnTo>
                    <a:pt x="6731" y="559308"/>
                  </a:lnTo>
                  <a:lnTo>
                    <a:pt x="254" y="599694"/>
                  </a:lnTo>
                  <a:lnTo>
                    <a:pt x="127" y="600481"/>
                  </a:lnTo>
                  <a:lnTo>
                    <a:pt x="38" y="601078"/>
                  </a:lnTo>
                  <a:lnTo>
                    <a:pt x="0" y="601345"/>
                  </a:lnTo>
                  <a:lnTo>
                    <a:pt x="5969" y="637413"/>
                  </a:lnTo>
                  <a:lnTo>
                    <a:pt x="23622" y="671703"/>
                  </a:lnTo>
                  <a:lnTo>
                    <a:pt x="52832" y="700913"/>
                  </a:lnTo>
                  <a:lnTo>
                    <a:pt x="93853" y="720979"/>
                  </a:lnTo>
                  <a:lnTo>
                    <a:pt x="146672" y="728472"/>
                  </a:lnTo>
                  <a:lnTo>
                    <a:pt x="187198" y="723900"/>
                  </a:lnTo>
                  <a:lnTo>
                    <a:pt x="226949" y="709295"/>
                  </a:lnTo>
                  <a:lnTo>
                    <a:pt x="260972" y="684276"/>
                  </a:lnTo>
                  <a:lnTo>
                    <a:pt x="285242" y="647954"/>
                  </a:lnTo>
                  <a:lnTo>
                    <a:pt x="294068" y="601345"/>
                  </a:lnTo>
                  <a:lnTo>
                    <a:pt x="294119" y="601078"/>
                  </a:lnTo>
                  <a:lnTo>
                    <a:pt x="294386" y="599694"/>
                  </a:lnTo>
                  <a:close/>
                </a:path>
                <a:path w="597534" h="728980">
                  <a:moveTo>
                    <a:pt x="508127" y="346837"/>
                  </a:moveTo>
                  <a:lnTo>
                    <a:pt x="498475" y="344678"/>
                  </a:lnTo>
                  <a:lnTo>
                    <a:pt x="488569" y="343154"/>
                  </a:lnTo>
                  <a:lnTo>
                    <a:pt x="478282" y="342265"/>
                  </a:lnTo>
                  <a:lnTo>
                    <a:pt x="467614" y="341884"/>
                  </a:lnTo>
                  <a:lnTo>
                    <a:pt x="428244" y="349377"/>
                  </a:lnTo>
                  <a:lnTo>
                    <a:pt x="397624" y="371475"/>
                  </a:lnTo>
                  <a:lnTo>
                    <a:pt x="377698" y="406908"/>
                  </a:lnTo>
                  <a:lnTo>
                    <a:pt x="370713" y="455422"/>
                  </a:lnTo>
                  <a:lnTo>
                    <a:pt x="370713" y="475234"/>
                  </a:lnTo>
                  <a:lnTo>
                    <a:pt x="332105" y="475234"/>
                  </a:lnTo>
                  <a:lnTo>
                    <a:pt x="332105" y="519557"/>
                  </a:lnTo>
                  <a:lnTo>
                    <a:pt x="370713" y="519557"/>
                  </a:lnTo>
                  <a:lnTo>
                    <a:pt x="370713" y="723519"/>
                  </a:lnTo>
                  <a:lnTo>
                    <a:pt x="425958" y="723519"/>
                  </a:lnTo>
                  <a:lnTo>
                    <a:pt x="425958" y="519557"/>
                  </a:lnTo>
                  <a:lnTo>
                    <a:pt x="487299" y="519557"/>
                  </a:lnTo>
                  <a:lnTo>
                    <a:pt x="487299" y="475234"/>
                  </a:lnTo>
                  <a:lnTo>
                    <a:pt x="425958" y="475234"/>
                  </a:lnTo>
                  <a:lnTo>
                    <a:pt x="426072" y="455422"/>
                  </a:lnTo>
                  <a:lnTo>
                    <a:pt x="429133" y="424434"/>
                  </a:lnTo>
                  <a:lnTo>
                    <a:pt x="438531" y="403606"/>
                  </a:lnTo>
                  <a:lnTo>
                    <a:pt x="454152" y="392049"/>
                  </a:lnTo>
                  <a:lnTo>
                    <a:pt x="476250" y="388493"/>
                  </a:lnTo>
                  <a:lnTo>
                    <a:pt x="484505" y="388747"/>
                  </a:lnTo>
                  <a:lnTo>
                    <a:pt x="492887" y="389509"/>
                  </a:lnTo>
                  <a:lnTo>
                    <a:pt x="500761" y="390906"/>
                  </a:lnTo>
                  <a:lnTo>
                    <a:pt x="508127" y="392938"/>
                  </a:lnTo>
                  <a:lnTo>
                    <a:pt x="508127" y="346837"/>
                  </a:lnTo>
                  <a:close/>
                </a:path>
                <a:path w="597534" h="728980">
                  <a:moveTo>
                    <a:pt x="577088" y="106807"/>
                  </a:moveTo>
                  <a:lnTo>
                    <a:pt x="570103" y="62865"/>
                  </a:lnTo>
                  <a:lnTo>
                    <a:pt x="549021" y="29464"/>
                  </a:lnTo>
                  <a:lnTo>
                    <a:pt x="516128" y="8382"/>
                  </a:lnTo>
                  <a:lnTo>
                    <a:pt x="472694" y="1270"/>
                  </a:lnTo>
                  <a:lnTo>
                    <a:pt x="460248" y="1905"/>
                  </a:lnTo>
                  <a:lnTo>
                    <a:pt x="414147" y="16764"/>
                  </a:lnTo>
                  <a:lnTo>
                    <a:pt x="380746" y="42418"/>
                  </a:lnTo>
                  <a:lnTo>
                    <a:pt x="380746" y="5969"/>
                  </a:lnTo>
                  <a:lnTo>
                    <a:pt x="321297" y="5969"/>
                  </a:lnTo>
                  <a:lnTo>
                    <a:pt x="321297" y="305181"/>
                  </a:lnTo>
                  <a:lnTo>
                    <a:pt x="380746" y="305181"/>
                  </a:lnTo>
                  <a:lnTo>
                    <a:pt x="380746" y="89281"/>
                  </a:lnTo>
                  <a:lnTo>
                    <a:pt x="389001" y="79756"/>
                  </a:lnTo>
                  <a:lnTo>
                    <a:pt x="423532" y="56134"/>
                  </a:lnTo>
                  <a:lnTo>
                    <a:pt x="454660" y="51054"/>
                  </a:lnTo>
                  <a:lnTo>
                    <a:pt x="469646" y="52197"/>
                  </a:lnTo>
                  <a:lnTo>
                    <a:pt x="509016" y="78232"/>
                  </a:lnTo>
                  <a:lnTo>
                    <a:pt x="517652" y="122047"/>
                  </a:lnTo>
                  <a:lnTo>
                    <a:pt x="517652" y="305181"/>
                  </a:lnTo>
                  <a:lnTo>
                    <a:pt x="577088" y="305181"/>
                  </a:lnTo>
                  <a:lnTo>
                    <a:pt x="577088" y="106807"/>
                  </a:lnTo>
                  <a:close/>
                </a:path>
                <a:path w="597534" h="728980">
                  <a:moveTo>
                    <a:pt x="592150" y="475234"/>
                  </a:moveTo>
                  <a:lnTo>
                    <a:pt x="537591" y="475234"/>
                  </a:lnTo>
                  <a:lnTo>
                    <a:pt x="537591" y="723519"/>
                  </a:lnTo>
                  <a:lnTo>
                    <a:pt x="592150" y="723519"/>
                  </a:lnTo>
                  <a:lnTo>
                    <a:pt x="592150" y="475234"/>
                  </a:lnTo>
                  <a:close/>
                </a:path>
                <a:path w="597534" h="728980">
                  <a:moveTo>
                    <a:pt x="597027" y="399542"/>
                  </a:moveTo>
                  <a:lnTo>
                    <a:pt x="594487" y="388620"/>
                  </a:lnTo>
                  <a:lnTo>
                    <a:pt x="587502" y="379476"/>
                  </a:lnTo>
                  <a:lnTo>
                    <a:pt x="577088" y="373126"/>
                  </a:lnTo>
                  <a:lnTo>
                    <a:pt x="564515" y="370840"/>
                  </a:lnTo>
                  <a:lnTo>
                    <a:pt x="551688" y="373380"/>
                  </a:lnTo>
                  <a:lnTo>
                    <a:pt x="541782" y="379857"/>
                  </a:lnTo>
                  <a:lnTo>
                    <a:pt x="535051" y="389001"/>
                  </a:lnTo>
                  <a:lnTo>
                    <a:pt x="532765" y="399542"/>
                  </a:lnTo>
                  <a:lnTo>
                    <a:pt x="535051" y="410210"/>
                  </a:lnTo>
                  <a:lnTo>
                    <a:pt x="541782" y="419608"/>
                  </a:lnTo>
                  <a:lnTo>
                    <a:pt x="551688" y="426212"/>
                  </a:lnTo>
                  <a:lnTo>
                    <a:pt x="564515" y="428752"/>
                  </a:lnTo>
                  <a:lnTo>
                    <a:pt x="577088" y="426466"/>
                  </a:lnTo>
                  <a:lnTo>
                    <a:pt x="587502" y="419989"/>
                  </a:lnTo>
                  <a:lnTo>
                    <a:pt x="594487" y="410718"/>
                  </a:lnTo>
                  <a:lnTo>
                    <a:pt x="597027" y="399542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54455" y="1024127"/>
              <a:ext cx="231648" cy="2529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511784" y="408431"/>
              <a:ext cx="283845" cy="457200"/>
            </a:xfrm>
            <a:custGeom>
              <a:avLst/>
              <a:gdLst/>
              <a:ahLst/>
              <a:cxnLst/>
              <a:rect l="l" t="t" r="r" b="b"/>
              <a:pathLst>
                <a:path w="283844" h="457200">
                  <a:moveTo>
                    <a:pt x="283210" y="0"/>
                  </a:moveTo>
                  <a:lnTo>
                    <a:pt x="223774" y="0"/>
                  </a:lnTo>
                  <a:lnTo>
                    <a:pt x="223774" y="169672"/>
                  </a:lnTo>
                  <a:lnTo>
                    <a:pt x="223774" y="217170"/>
                  </a:lnTo>
                  <a:lnTo>
                    <a:pt x="223774" y="384810"/>
                  </a:lnTo>
                  <a:lnTo>
                    <a:pt x="216408" y="389636"/>
                  </a:lnTo>
                  <a:lnTo>
                    <a:pt x="178181" y="404241"/>
                  </a:lnTo>
                  <a:lnTo>
                    <a:pt x="161290" y="405384"/>
                  </a:lnTo>
                  <a:lnTo>
                    <a:pt x="139954" y="403733"/>
                  </a:lnTo>
                  <a:lnTo>
                    <a:pt x="104013" y="389636"/>
                  </a:lnTo>
                  <a:lnTo>
                    <a:pt x="69977" y="344297"/>
                  </a:lnTo>
                  <a:lnTo>
                    <a:pt x="63500" y="300863"/>
                  </a:lnTo>
                  <a:lnTo>
                    <a:pt x="65151" y="277876"/>
                  </a:lnTo>
                  <a:lnTo>
                    <a:pt x="78359" y="239776"/>
                  </a:lnTo>
                  <a:lnTo>
                    <a:pt x="120777" y="203708"/>
                  </a:lnTo>
                  <a:lnTo>
                    <a:pt x="161290" y="196850"/>
                  </a:lnTo>
                  <a:lnTo>
                    <a:pt x="169926" y="197104"/>
                  </a:lnTo>
                  <a:lnTo>
                    <a:pt x="208915" y="208026"/>
                  </a:lnTo>
                  <a:lnTo>
                    <a:pt x="223774" y="217170"/>
                  </a:lnTo>
                  <a:lnTo>
                    <a:pt x="223774" y="169672"/>
                  </a:lnTo>
                  <a:lnTo>
                    <a:pt x="187833" y="152273"/>
                  </a:lnTo>
                  <a:lnTo>
                    <a:pt x="146177" y="146558"/>
                  </a:lnTo>
                  <a:lnTo>
                    <a:pt x="62611" y="170942"/>
                  </a:lnTo>
                  <a:lnTo>
                    <a:pt x="22987" y="212979"/>
                  </a:lnTo>
                  <a:lnTo>
                    <a:pt x="2540" y="268986"/>
                  </a:lnTo>
                  <a:lnTo>
                    <a:pt x="63" y="300863"/>
                  </a:lnTo>
                  <a:lnTo>
                    <a:pt x="0" y="301752"/>
                  </a:lnTo>
                  <a:lnTo>
                    <a:pt x="2540" y="334518"/>
                  </a:lnTo>
                  <a:lnTo>
                    <a:pt x="22987" y="390398"/>
                  </a:lnTo>
                  <a:lnTo>
                    <a:pt x="62611" y="432689"/>
                  </a:lnTo>
                  <a:lnTo>
                    <a:pt x="115443" y="454279"/>
                  </a:lnTo>
                  <a:lnTo>
                    <a:pt x="146177" y="456946"/>
                  </a:lnTo>
                  <a:lnTo>
                    <a:pt x="157480" y="456565"/>
                  </a:lnTo>
                  <a:lnTo>
                    <a:pt x="197612" y="448310"/>
                  </a:lnTo>
                  <a:lnTo>
                    <a:pt x="223774" y="434467"/>
                  </a:lnTo>
                  <a:lnTo>
                    <a:pt x="283210" y="434467"/>
                  </a:lnTo>
                  <a:lnTo>
                    <a:pt x="283210" y="405384"/>
                  </a:lnTo>
                  <a:lnTo>
                    <a:pt x="283210" y="0"/>
                  </a:lnTo>
                  <a:close/>
                </a:path>
                <a:path w="283844" h="457200">
                  <a:moveTo>
                    <a:pt x="283298" y="434517"/>
                  </a:moveTo>
                  <a:lnTo>
                    <a:pt x="223774" y="434517"/>
                  </a:lnTo>
                  <a:lnTo>
                    <a:pt x="223774" y="450977"/>
                  </a:lnTo>
                  <a:lnTo>
                    <a:pt x="283298" y="450977"/>
                  </a:lnTo>
                  <a:lnTo>
                    <a:pt x="283298" y="434517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13464" y="1298448"/>
              <a:ext cx="2078735" cy="28955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695431" y="396240"/>
              <a:ext cx="951230" cy="454659"/>
            </a:xfrm>
            <a:custGeom>
              <a:avLst/>
              <a:gdLst/>
              <a:ahLst/>
              <a:cxnLst/>
              <a:rect l="l" t="t" r="r" b="b"/>
              <a:pathLst>
                <a:path w="951229" h="454659">
                  <a:moveTo>
                    <a:pt x="475234" y="0"/>
                  </a:moveTo>
                  <a:lnTo>
                    <a:pt x="238506" y="187832"/>
                  </a:lnTo>
                  <a:lnTo>
                    <a:pt x="75311" y="316610"/>
                  </a:lnTo>
                  <a:lnTo>
                    <a:pt x="0" y="373760"/>
                  </a:lnTo>
                  <a:lnTo>
                    <a:pt x="59436" y="448944"/>
                  </a:lnTo>
                  <a:lnTo>
                    <a:pt x="475234" y="57023"/>
                  </a:lnTo>
                  <a:lnTo>
                    <a:pt x="891286" y="454151"/>
                  </a:lnTo>
                  <a:lnTo>
                    <a:pt x="950722" y="373760"/>
                  </a:lnTo>
                  <a:lnTo>
                    <a:pt x="475234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94719" y="576071"/>
              <a:ext cx="161544" cy="1706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978896" y="719328"/>
              <a:ext cx="396240" cy="819785"/>
            </a:xfrm>
            <a:custGeom>
              <a:avLst/>
              <a:gdLst/>
              <a:ahLst/>
              <a:cxnLst/>
              <a:rect l="l" t="t" r="r" b="b"/>
              <a:pathLst>
                <a:path w="396240" h="819785">
                  <a:moveTo>
                    <a:pt x="40004" y="0"/>
                  </a:moveTo>
                  <a:lnTo>
                    <a:pt x="28448" y="8636"/>
                  </a:lnTo>
                  <a:lnTo>
                    <a:pt x="7874" y="37973"/>
                  </a:lnTo>
                  <a:lnTo>
                    <a:pt x="0" y="92964"/>
                  </a:lnTo>
                  <a:lnTo>
                    <a:pt x="26034" y="178689"/>
                  </a:lnTo>
                  <a:lnTo>
                    <a:pt x="77724" y="260985"/>
                  </a:lnTo>
                  <a:lnTo>
                    <a:pt x="97027" y="335152"/>
                  </a:lnTo>
                  <a:lnTo>
                    <a:pt x="98171" y="388620"/>
                  </a:lnTo>
                  <a:lnTo>
                    <a:pt x="95503" y="409321"/>
                  </a:lnTo>
                  <a:lnTo>
                    <a:pt x="72262" y="393065"/>
                  </a:lnTo>
                  <a:lnTo>
                    <a:pt x="56133" y="362076"/>
                  </a:lnTo>
                  <a:lnTo>
                    <a:pt x="46735" y="331977"/>
                  </a:lnTo>
                  <a:lnTo>
                    <a:pt x="43687" y="318389"/>
                  </a:lnTo>
                  <a:lnTo>
                    <a:pt x="35559" y="331977"/>
                  </a:lnTo>
                  <a:lnTo>
                    <a:pt x="21081" y="368807"/>
                  </a:lnTo>
                  <a:lnTo>
                    <a:pt x="15112" y="423037"/>
                  </a:lnTo>
                  <a:lnTo>
                    <a:pt x="32511" y="488061"/>
                  </a:lnTo>
                  <a:lnTo>
                    <a:pt x="107950" y="581787"/>
                  </a:lnTo>
                  <a:lnTo>
                    <a:pt x="169545" y="691006"/>
                  </a:lnTo>
                  <a:lnTo>
                    <a:pt x="210947" y="781685"/>
                  </a:lnTo>
                  <a:lnTo>
                    <a:pt x="226059" y="819530"/>
                  </a:lnTo>
                  <a:lnTo>
                    <a:pt x="267843" y="786129"/>
                  </a:lnTo>
                  <a:lnTo>
                    <a:pt x="299720" y="746378"/>
                  </a:lnTo>
                  <a:lnTo>
                    <a:pt x="322833" y="701801"/>
                  </a:lnTo>
                  <a:lnTo>
                    <a:pt x="338074" y="653923"/>
                  </a:lnTo>
                  <a:lnTo>
                    <a:pt x="346328" y="604393"/>
                  </a:lnTo>
                  <a:lnTo>
                    <a:pt x="348614" y="554481"/>
                  </a:lnTo>
                  <a:lnTo>
                    <a:pt x="345694" y="505841"/>
                  </a:lnTo>
                  <a:lnTo>
                    <a:pt x="338454" y="460121"/>
                  </a:lnTo>
                  <a:lnTo>
                    <a:pt x="328168" y="418592"/>
                  </a:lnTo>
                  <a:lnTo>
                    <a:pt x="315340" y="382777"/>
                  </a:lnTo>
                  <a:lnTo>
                    <a:pt x="301117" y="354456"/>
                  </a:lnTo>
                  <a:lnTo>
                    <a:pt x="261747" y="392049"/>
                  </a:lnTo>
                  <a:lnTo>
                    <a:pt x="226440" y="404368"/>
                  </a:lnTo>
                  <a:lnTo>
                    <a:pt x="201168" y="403225"/>
                  </a:lnTo>
                  <a:lnTo>
                    <a:pt x="191515" y="400303"/>
                  </a:lnTo>
                  <a:lnTo>
                    <a:pt x="203453" y="388747"/>
                  </a:lnTo>
                  <a:lnTo>
                    <a:pt x="233806" y="357758"/>
                  </a:lnTo>
                  <a:lnTo>
                    <a:pt x="274574" y="312927"/>
                  </a:lnTo>
                  <a:lnTo>
                    <a:pt x="317880" y="259715"/>
                  </a:lnTo>
                  <a:lnTo>
                    <a:pt x="353568" y="195961"/>
                  </a:lnTo>
                  <a:lnTo>
                    <a:pt x="377698" y="128016"/>
                  </a:lnTo>
                  <a:lnTo>
                    <a:pt x="391413" y="74041"/>
                  </a:lnTo>
                  <a:lnTo>
                    <a:pt x="395731" y="52070"/>
                  </a:lnTo>
                  <a:lnTo>
                    <a:pt x="383539" y="58039"/>
                  </a:lnTo>
                  <a:lnTo>
                    <a:pt x="347218" y="69976"/>
                  </a:lnTo>
                  <a:lnTo>
                    <a:pt x="287020" y="78613"/>
                  </a:lnTo>
                  <a:lnTo>
                    <a:pt x="203073" y="74549"/>
                  </a:lnTo>
                  <a:lnTo>
                    <a:pt x="123825" y="55372"/>
                  </a:lnTo>
                  <a:lnTo>
                    <a:pt x="73659" y="30606"/>
                  </a:lnTo>
                  <a:lnTo>
                    <a:pt x="47498" y="9144"/>
                  </a:lnTo>
                  <a:lnTo>
                    <a:pt x="40004" y="0"/>
                  </a:lnTo>
                  <a:close/>
                </a:path>
              </a:pathLst>
            </a:custGeom>
            <a:solidFill>
              <a:srgbClr val="374E8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008" y="149352"/>
              <a:ext cx="813816" cy="138379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16*394"/>
  <p:tag name="TABLE_ENDDRAG_RECT" val="102*114*916*394"/>
</p:tagLst>
</file>

<file path=ppt/tags/tag2.xml><?xml version="1.0" encoding="utf-8"?>
<p:tagLst xmlns:p="http://schemas.openxmlformats.org/presentationml/2006/main">
  <p:tag name="TABLE_ENDDRAG_ORIGIN_RECT" val="912*39"/>
  <p:tag name="TABLE_ENDDRAG_RECT" val="102*559*912*39"/>
</p:tagLst>
</file>

<file path=ppt/tags/tag3.xml><?xml version="1.0" encoding="utf-8"?>
<p:tagLst xmlns:p="http://schemas.openxmlformats.org/presentationml/2006/main">
  <p:tag name="TABLE_ENDDRAG_ORIGIN_RECT" val="886*470"/>
  <p:tag name="TABLE_ENDDRAG_RECT" val="168*120*886*470"/>
</p:tagLst>
</file>

<file path=ppt/tags/tag4.xml><?xml version="1.0" encoding="utf-8"?>
<p:tagLst xmlns:p="http://schemas.openxmlformats.org/presentationml/2006/main">
  <p:tag name="TABLE_ENDDRAG_ORIGIN_RECT" val="453*467"/>
  <p:tag name="TABLE_ENDDRAG_RECT" val="233*111*453*46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4067</Words>
  <Application>WPS Presentation</Application>
  <PresentationFormat>On-screen Show (4:3)</PresentationFormat>
  <Paragraphs>341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Times New Roman</vt:lpstr>
      <vt:lpstr>Arial MT</vt:lpstr>
      <vt:lpstr>Symbol</vt:lpstr>
      <vt:lpstr>Microsoft YaHei</vt:lpstr>
      <vt:lpstr>Arial Unicode MS</vt:lpstr>
      <vt:lpstr>Trebuchet MS</vt:lpstr>
      <vt:lpstr>Calibri Light</vt:lpstr>
      <vt:lpstr>Calibri</vt:lpstr>
      <vt:lpstr>Wingdings</vt:lpstr>
      <vt:lpstr>Office Theme</vt:lpstr>
      <vt:lpstr>PowerPoint 演示文稿</vt:lpstr>
      <vt:lpstr>Credit	Lending	Models</vt:lpstr>
      <vt:lpstr>C</vt:lpstr>
      <vt:lpstr>Credit	Lending	Models</vt:lpstr>
      <vt:lpstr>Credit	Lending	Models</vt:lpstr>
      <vt:lpstr>Credit	Lending	Models</vt:lpstr>
      <vt:lpstr>Credit	Lending	Models</vt:lpstr>
      <vt:lpstr>Terminology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Suman - Training</dc:creator>
  <cp:lastModifiedBy>Vishal Suresh Bavaskar</cp:lastModifiedBy>
  <cp:revision>2</cp:revision>
  <dcterms:created xsi:type="dcterms:W3CDTF">2025-03-31T05:56:00Z</dcterms:created>
  <dcterms:modified xsi:type="dcterms:W3CDTF">2025-06-07T11:00:07Z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2025-03-27T11:00:00Z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2025-03-31T11:00:00Z</vt:filetime>
  </property>
  <property fmtid="{D5CDD505-2E9C-101B-9397-08002B2CF9AE}" pid="5" name="Producer">
    <vt:lpwstr>Microsoft® PowerPoint® 2016</vt:lpwstr>
  </property>
  <property fmtid="{D5CDD505-2E9C-101B-9397-08002B2CF9AE}" pid="6" name="ICV">
    <vt:lpwstr>05892AFF2C4A40FDAB871C641BC4F99A_13</vt:lpwstr>
  </property>
  <property fmtid="{D5CDD505-2E9C-101B-9397-08002B2CF9AE}" pid="7" name="KSOProductBuildVer">
    <vt:lpwstr>1033-12.2.0.21179</vt:lpwstr>
  </property>
</Properties>
</file>